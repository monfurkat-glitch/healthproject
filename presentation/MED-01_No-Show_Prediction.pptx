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No-show rate</c:v>
                </c:pt>
              </c:strCache>
            </c:strRef>
          </c:tx>
          <c:spPr>
            <a:solidFill>
              <a:srgbClr val="E85D45"/>
            </a:solidFill>
          </c:spPr>
          <c:dPt>
            <c:idx val="0"/>
            <c:spPr>
              <a:solidFill>
                <a:srgbClr val="13747D"/>
              </a:solidFill>
            </c:spPr>
          </c:dPt>
          <c:cat>
            <c:strRef>
              <c:f>Sheet1!$A$2:$A$8</c:f>
              <c:strCache>
                <c:ptCount val="7"/>
                <c:pt idx="0">
                  <c:v>same day</c:v>
                </c:pt>
                <c:pt idx="1">
                  <c:v>1–2</c:v>
                </c:pt>
                <c:pt idx="2">
                  <c:v>3–7</c:v>
                </c:pt>
                <c:pt idx="3">
                  <c:v>8–14</c:v>
                </c:pt>
                <c:pt idx="4">
                  <c:v>15–30</c:v>
                </c:pt>
                <c:pt idx="5">
                  <c:v>31–60</c:v>
                </c:pt>
                <c:pt idx="6">
                  <c:v>61+</c:v>
                </c:pt>
              </c:strCache>
            </c:strRef>
          </c:cat>
          <c:val>
            <c:numRef>
              <c:f>Sheet1!$B$2:$B$8</c:f>
              <c:numCache>
                <c:formatCode>General</c:formatCode>
                <c:ptCount val="7"/>
                <c:pt idx="0">
                  <c:v>0.046</c:v>
                </c:pt>
                <c:pt idx="1">
                  <c:v>0.227</c:v>
                </c:pt>
                <c:pt idx="2">
                  <c:v>0.25</c:v>
                </c:pt>
                <c:pt idx="3">
                  <c:v>0.305</c:v>
                </c:pt>
                <c:pt idx="4">
                  <c:v>0.326</c:v>
                </c:pt>
                <c:pt idx="5">
                  <c:v>0.342</c:v>
                </c:pt>
                <c:pt idx="6">
                  <c:v>0.284</c:v>
                </c:pt>
              </c:numCache>
            </c:numRef>
          </c:val>
        </c:ser>
        <c:dLbls>
          <c:numFmt formatCode="0%" sourceLinked="0"/>
          <c:txPr>
            <a:bodyPr/>
            <a:lstStyle/>
            <a:p>
              <a:pPr>
                <a:defRPr sz="1200">
                  <a:solidFill>
                    <a:srgbClr val="1C2A2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DDF"/>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200">
          <a:solidFill>
            <a:srgbClr val="4B5B5F"/>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No SMS</c:v>
                </c:pt>
              </c:strCache>
            </c:strRef>
          </c:tx>
          <c:spPr>
            <a:solidFill>
              <a:srgbClr val="9AA5A8"/>
            </a:solidFill>
          </c:spPr>
          <c:cat>
            <c:strRef>
              <c:f>Sheet1!$A$2:$A$6</c:f>
              <c:strCache>
                <c:ptCount val="5"/>
                <c:pt idx="0">
                  <c:v>3–7 days</c:v>
                </c:pt>
                <c:pt idx="1">
                  <c:v>8–14</c:v>
                </c:pt>
                <c:pt idx="2">
                  <c:v>15–30</c:v>
                </c:pt>
                <c:pt idx="3">
                  <c:v>31–60</c:v>
                </c:pt>
                <c:pt idx="4">
                  <c:v>61+</c:v>
                </c:pt>
              </c:strCache>
            </c:strRef>
          </c:cat>
          <c:val>
            <c:numRef>
              <c:f>Sheet1!$B$2:$B$6</c:f>
              <c:numCache>
                <c:formatCode>General</c:formatCode>
                <c:ptCount val="5"/>
                <c:pt idx="0">
                  <c:v>0.266</c:v>
                </c:pt>
                <c:pt idx="1">
                  <c:v>0.338</c:v>
                </c:pt>
                <c:pt idx="2">
                  <c:v>0.369</c:v>
                </c:pt>
                <c:pt idx="3">
                  <c:v>0.384</c:v>
                </c:pt>
                <c:pt idx="4">
                  <c:v>0.339</c:v>
                </c:pt>
              </c:numCache>
            </c:numRef>
          </c:val>
        </c:ser>
        <c:ser>
          <c:idx val="1"/>
          <c:order val="1"/>
          <c:tx>
            <c:strRef>
              <c:f>Sheet1!$C$1</c:f>
              <c:strCache>
                <c:ptCount val="1"/>
                <c:pt idx="0">
                  <c:v>SMS sent</c:v>
                </c:pt>
              </c:strCache>
            </c:strRef>
          </c:tx>
          <c:spPr>
            <a:solidFill>
              <a:srgbClr val="13747D"/>
            </a:solidFill>
          </c:spPr>
          <c:cat>
            <c:strRef>
              <c:f>Sheet1!$A$2:$A$6</c:f>
              <c:strCache>
                <c:ptCount val="5"/>
                <c:pt idx="0">
                  <c:v>3–7 days</c:v>
                </c:pt>
                <c:pt idx="1">
                  <c:v>8–14</c:v>
                </c:pt>
                <c:pt idx="2">
                  <c:v>15–30</c:v>
                </c:pt>
                <c:pt idx="3">
                  <c:v>31–60</c:v>
                </c:pt>
                <c:pt idx="4">
                  <c:v>61+</c:v>
                </c:pt>
              </c:strCache>
            </c:strRef>
          </c:cat>
          <c:val>
            <c:numRef>
              <c:f>Sheet1!$C$2:$C$6</c:f>
              <c:numCache>
                <c:formatCode>General</c:formatCode>
                <c:ptCount val="5"/>
                <c:pt idx="0">
                  <c:v>0.238</c:v>
                </c:pt>
                <c:pt idx="1">
                  <c:v>0.281</c:v>
                </c:pt>
                <c:pt idx="2">
                  <c:v>0.298</c:v>
                </c:pt>
                <c:pt idx="3">
                  <c:v>0.315</c:v>
                </c:pt>
                <c:pt idx="4">
                  <c:v>0.255</c:v>
                </c:pt>
              </c:numCache>
            </c:numRef>
          </c:val>
        </c:ser>
        <c:dLbls>
          <c:numFmt formatCode="0%" sourceLinked="0"/>
          <c:txPr>
            <a:bodyPr/>
            <a:lstStyle/>
            <a:p>
              <a:pPr>
                <a:defRPr sz="1200">
                  <a:solidFill>
                    <a:srgbClr val="1C2A2E"/>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D5DDDF"/>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200"/>
          </a:pPr>
        </a:p>
      </c:txPr>
    </c:legend>
    <c:dispBlanksAs val="gap"/>
  </c:chart>
  <c:txPr>
    <a:bodyPr/>
    <a:lstStyle/>
    <a:p>
      <a:pPr>
        <a:defRPr sz="1200">
          <a:solidFill>
            <a:srgbClr val="4B5B5F"/>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Validation ROC-AUC</c:v>
                </c:pt>
              </c:strCache>
            </c:strRef>
          </c:tx>
          <c:spPr>
            <a:solidFill>
              <a:srgbClr val="13747D"/>
            </a:solidFill>
          </c:spPr>
          <c:dPt>
            <c:idx val="0"/>
            <c:spPr>
              <a:solidFill>
                <a:srgbClr val="9AA5A8"/>
              </a:solidFill>
            </c:spPr>
          </c:dPt>
          <c:dPt>
            <c:idx val="1"/>
            <c:spPr>
              <a:solidFill>
                <a:srgbClr val="9AA5A8"/>
              </a:solidFill>
            </c:spPr>
          </c:dPt>
          <c:cat>
            <c:strRef>
              <c:f>Sheet1!$A$2:$A$6</c:f>
              <c:strCache>
                <c:ptCount val="5"/>
                <c:pt idx="0">
                  <c:v>Majority class</c:v>
                </c:pt>
                <c:pt idx="1">
                  <c:v>Lead-time rule
(no ML)</c:v>
                </c:pt>
                <c:pt idx="2">
                  <c:v>Logistic
regression</c:v>
                </c:pt>
                <c:pt idx="3">
                  <c:v>Random forest</c:v>
                </c:pt>
                <c:pt idx="4">
                  <c:v>Gradient
boosting</c:v>
                </c:pt>
              </c:strCache>
            </c:strRef>
          </c:cat>
          <c:val>
            <c:numRef>
              <c:f>Sheet1!$B$2:$B$6</c:f>
              <c:numCache>
                <c:formatCode>General</c:formatCode>
                <c:ptCount val="5"/>
                <c:pt idx="0">
                  <c:v>0.5</c:v>
                </c:pt>
                <c:pt idx="1">
                  <c:v>0.693</c:v>
                </c:pt>
                <c:pt idx="2">
                  <c:v>0.726</c:v>
                </c:pt>
                <c:pt idx="3">
                  <c:v>0.726</c:v>
                </c:pt>
                <c:pt idx="4">
                  <c:v>0.729</c:v>
                </c:pt>
              </c:numCache>
            </c:numRef>
          </c:val>
        </c:ser>
        <c:dLbls>
          <c:numFmt formatCode="0.000" sourceLinked="0"/>
          <c:txPr>
            <a:bodyPr/>
            <a:lstStyle/>
            <a:p>
              <a:pPr>
                <a:defRPr sz="1200">
                  <a:solidFill>
                    <a:srgbClr val="1C2A2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5DDDF"/>
            </a:solidFill>
          </a:ln>
        </c:spPr>
        <c:txPr>
          <a:bodyPr/>
          <a:lstStyle/>
          <a:p>
            <a:pPr>
              <a:defRPr sz="1200"/>
            </a:pPr>
          </a:p>
        </c:txPr>
        <c:crossAx val="-2113994440"/>
        <c:crosses val="autoZero"/>
        <c:auto val="1"/>
        <c:lblAlgn val="ctr"/>
        <c:lblOffset val="100"/>
        <c:noMultiLvlLbl val="0"/>
      </c:catAx>
      <c:valAx>
        <c:axId val="-2113994440"/>
        <c:scaling>
          <c:max val="0.85"/>
          <c:min val="0.0"/>
        </c:scaling>
        <c:delete/>
        <c:axPos val="l"/>
        <c:majorTickMark val="out"/>
        <c:minorTickMark val="none"/>
        <c:tickLblPos val="nextTo"/>
        <c:crossAx val="-2068027336"/>
        <c:crosses val="autoZero"/>
      </c:valAx>
    </c:plotArea>
    <c:dispBlanksAs val="gap"/>
  </c:chart>
  <c:txPr>
    <a:bodyPr/>
    <a:lstStyle/>
    <a:p>
      <a:pPr>
        <a:defRPr sz="1200">
          <a:solidFill>
            <a:srgbClr val="4B5B5F"/>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C2A2E"/>
                </a:solidFill>
                <a:latin typeface="Calibri"/>
              </a:rPr>
              <a:t>No-show rate by risk band</a:t>
            </a:r>
          </a:p>
        </c:rich>
      </c:tx>
      <c:layout/>
      <c:overlay val="0"/>
    </c:title>
    <c:autoTitleDeleted val="1"/>
    <c:plotArea>
      <c:barChart>
        <c:barDir val="col"/>
        <c:grouping val="clustered"/>
        <c:ser>
          <c:idx val="0"/>
          <c:order val="0"/>
          <c:tx>
            <c:strRef>
              <c:f>Sheet1!$B$1</c:f>
              <c:strCache>
                <c:ptCount val="1"/>
                <c:pt idx="0">
                  <c:v>No-show rate</c:v>
                </c:pt>
              </c:strCache>
            </c:strRef>
          </c:tx>
          <c:spPr>
            <a:solidFill>
              <a:srgbClr val="E85D45"/>
            </a:solidFill>
          </c:spPr>
          <c:dPt>
            <c:idx val="0"/>
            <c:spPr>
              <a:solidFill>
                <a:srgbClr val="5FA8B0"/>
              </a:solidFill>
            </c:spPr>
          </c:dPt>
          <c:dPt>
            <c:idx val="1"/>
            <c:spPr>
              <a:solidFill>
                <a:srgbClr val="F09A86"/>
              </a:solidFill>
            </c:spPr>
          </c:dPt>
          <c:dPt>
            <c:idx val="2"/>
            <c:spPr>
              <a:solidFill>
                <a:srgbClr val="E85D45"/>
              </a:solidFill>
            </c:spPr>
          </c:dPt>
          <c:cat>
            <c:strRef>
              <c:f>Sheet1!$A$2:$A$4</c:f>
              <c:strCache>
                <c:ptCount val="3"/>
                <c:pt idx="0">
                  <c:v>Low
49.7% of appts</c:v>
                </c:pt>
                <c:pt idx="1">
                  <c:v>Medium
27.8% of appts</c:v>
                </c:pt>
                <c:pt idx="2">
                  <c:v>High
22.6% of appts</c:v>
                </c:pt>
              </c:strCache>
            </c:strRef>
          </c:cat>
          <c:val>
            <c:numRef>
              <c:f>Sheet1!$B$2:$B$4</c:f>
              <c:numCache>
                <c:formatCode>General</c:formatCode>
                <c:ptCount val="3"/>
                <c:pt idx="0">
                  <c:v>0.081</c:v>
                </c:pt>
                <c:pt idx="1">
                  <c:v>0.251</c:v>
                </c:pt>
                <c:pt idx="2">
                  <c:v>0.332</c:v>
                </c:pt>
              </c:numCache>
            </c:numRef>
          </c:val>
        </c:ser>
        <c:dLbls>
          <c:numFmt formatCode="0%" sourceLinked="0"/>
          <c:txPr>
            <a:bodyPr/>
            <a:lstStyle/>
            <a:p>
              <a:pPr>
                <a:defRPr sz="1200">
                  <a:solidFill>
                    <a:srgbClr val="1C2A2E"/>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D5DDDF"/>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200">
          <a:solidFill>
            <a:srgbClr val="4B5B5F"/>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No-shows caught</c:v>
                </c:pt>
              </c:strCache>
            </c:strRef>
          </c:tx>
          <c:spPr>
            <a:solidFill>
              <a:srgbClr val="13747D"/>
            </a:solidFill>
          </c:spPr>
          <c:cat>
            <c:strRef>
              <c:f>Sheet1!$A$2:$A$7</c:f>
              <c:strCache>
                <c:ptCount val="6"/>
                <c:pt idx="0">
                  <c:v>Female</c:v>
                </c:pt>
                <c:pt idx="1">
                  <c:v>Male</c:v>
                </c:pt>
                <c:pt idx="2">
                  <c:v>No welfare</c:v>
                </c:pt>
                <c:pt idx="3">
                  <c:v>Welfare</c:v>
                </c:pt>
                <c:pt idx="4">
                  <c:v>Age 0–12</c:v>
                </c:pt>
                <c:pt idx="5">
                  <c:v>Age 66+</c:v>
                </c:pt>
              </c:strCache>
            </c:strRef>
          </c:cat>
          <c:val>
            <c:numRef>
              <c:f>Sheet1!$B$2:$B$7</c:f>
              <c:numCache>
                <c:formatCode>General</c:formatCode>
                <c:ptCount val="6"/>
                <c:pt idx="0">
                  <c:v>0.396</c:v>
                </c:pt>
                <c:pt idx="1">
                  <c:v>0.423</c:v>
                </c:pt>
                <c:pt idx="2">
                  <c:v>0.366</c:v>
                </c:pt>
                <c:pt idx="3">
                  <c:v>0.729</c:v>
                </c:pt>
                <c:pt idx="4">
                  <c:v>0.702</c:v>
                </c:pt>
                <c:pt idx="5">
                  <c:v>0.071</c:v>
                </c:pt>
              </c:numCache>
            </c:numRef>
          </c:val>
        </c:ser>
        <c:ser>
          <c:idx val="1"/>
          <c:order val="1"/>
          <c:tx>
            <c:strRef>
              <c:f>Sheet1!$C$1</c:f>
              <c:strCache>
                <c:ptCount val="1"/>
                <c:pt idx="0">
                  <c:v>Attenders flagged (false alarms)</c:v>
                </c:pt>
              </c:strCache>
            </c:strRef>
          </c:tx>
          <c:spPr>
            <a:solidFill>
              <a:srgbClr val="9AA5A8"/>
            </a:solidFill>
          </c:spPr>
          <c:cat>
            <c:strRef>
              <c:f>Sheet1!$A$2:$A$7</c:f>
              <c:strCache>
                <c:ptCount val="6"/>
                <c:pt idx="0">
                  <c:v>Female</c:v>
                </c:pt>
                <c:pt idx="1">
                  <c:v>Male</c:v>
                </c:pt>
                <c:pt idx="2">
                  <c:v>No welfare</c:v>
                </c:pt>
                <c:pt idx="3">
                  <c:v>Welfare</c:v>
                </c:pt>
                <c:pt idx="4">
                  <c:v>Age 0–12</c:v>
                </c:pt>
                <c:pt idx="5">
                  <c:v>Age 66+</c:v>
                </c:pt>
              </c:strCache>
            </c:strRef>
          </c:cat>
          <c:val>
            <c:numRef>
              <c:f>Sheet1!$C$2:$C$7</c:f>
              <c:numCache>
                <c:formatCode>General</c:formatCode>
                <c:ptCount val="6"/>
                <c:pt idx="0">
                  <c:v>0.173</c:v>
                </c:pt>
                <c:pt idx="1">
                  <c:v>0.21</c:v>
                </c:pt>
                <c:pt idx="2">
                  <c:v>0.168</c:v>
                </c:pt>
                <c:pt idx="3">
                  <c:v>0.343</c:v>
                </c:pt>
                <c:pt idx="4">
                  <c:v>0.37</c:v>
                </c:pt>
                <c:pt idx="5">
                  <c:v>0.041</c:v>
                </c:pt>
              </c:numCache>
            </c:numRef>
          </c:val>
        </c:ser>
        <c:dLbls>
          <c:numFmt formatCode="0%" sourceLinked="0"/>
          <c:txPr>
            <a:bodyPr/>
            <a:lstStyle/>
            <a:p>
              <a:pPr>
                <a:defRPr sz="1100">
                  <a:solidFill>
                    <a:srgbClr val="1C2A2E"/>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5DDDF"/>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200"/>
          </a:pPr>
        </a:p>
      </c:txPr>
    </c:legend>
    <c:dispBlanksAs val="gap"/>
  </c:chart>
  <c:txPr>
    <a:bodyPr/>
    <a:lstStyle/>
    <a:p>
      <a:pPr>
        <a:defRPr sz="1100">
          <a:solidFill>
            <a:srgbClr val="4B5B5F"/>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I'm Furkat. My project predicts which outpatient appointments are likely to be missed, so clinic staff can focus their reminder calls. In the dataset I use, one in five appointments is a no-show.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No-shows waste capacity and lengthen waiting lists. Today staff cannot tell who is likely to miss, so reminders are spread evenly. The goal is a risk score per appointment, given to staff as a ranked list. The system only supports their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is one booked appointment, output is a probability, a risk band, and the main factors. Two important decisions: the prediction happens at booking time, so SMS status cannot be used because reminders are sent later. And accuracy is misleading with 80/20 classes, so I use ranking metrics and the share of no-shows in the top 20%.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has 110 thousand appointments from public clinics in one Brazilian city. It is clean in one sense, no missing values, but it has invalid rows, a miscoded disability column, rare neighbourhoods, and imbalance. Each problem has a fix. An important constraint: appointment dates cover only about six weeks.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strongest pattern: appointments booked for the same day are almost always kept, 4.6 percent no-shows. Book further ahead and the rate climbs past 30 percent. Most other features are weak, which already tells us the model will be moderate, not perfect.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favourite finding. Raw data suggests SMS reminders increase no-shows. The reason: SMS was only sent for appointments booked days ahead, and those have more no-shows anyway. Comparing within the same lead time, SMS goes with fewer no-shows. Since SMS is sent after booking, it is also not available at prediction time, so I excluded it. Including it would add only 0.001 ROC-AUC.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step is shared by training and prediction. The split is chronological: train, then validation, then test, because in real use we always predict the future. The main leakage risk is patient history: if I counted all of a patient's no-shows, I would include future ones. I only count appointments before the booking day, and tests prove it. I also planted a leak on purpose to check the tests catch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compared a majority baseline, a simple lead-time rule, logistic regression, random forest and gradient boosting, 23 runs in total, all logged with the code version. The rule alone gets most of the way. All real models land around 0.73, and a bootstrap test shows none is reliably better than logistic regression. I also saw clear overfitting in unrestricted trees, 0.999 on training versus 0.700 on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the test result honest, I chose the model using validation only, wrote the decision down and committed it before scoring the test set. The test set was used exactly once. Logistic regression won on simplicity and explainability, because performance was equal within noise.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test week the final model scores 0.723, practically its validation score, so it generalises. It clearly beats both baselines. In practical terms: if staff call only the High band, 23 percent of appointments, they reach 41 percent of all no-shows. High-band appointments are four times as likely to be missed as Low 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points. First, gradient boosting did beat logistic regression on the test week, reliably. But I had committed to logistic regression before testing, and switching would bias the result, so I report it as a recommendation. Second, two of my four success criteria assumed a complex model would beat logistic regression. It did not on validation, so I mark them partly met and not met instead of rewriting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it fail? Caught no-shows and false alarms have almost identical profiles, so the data itself limits accuracy. For fairness: gender is balanced. Welfare patients are flagged twice as often with twice the false alarms. Children are over-flagged and elderly no-shows are rarely caught, partly because logistic regression treats age as a straight line. This is why the tool must only be used for supportive follow-up.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live demo in Colab. Steps: 1. run all. 2. change the form (e.g. same-day booking -&gt; Low). 3. show the ranked list. 4. show the invalid input being rejected. 5. show history lookup. 6. show retrain equals saved model. Backup: run python -m src.predict examples/appointment.json locally.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uses sensitive attributes like welfare status and health conditions, which raise the scores of poorer and sicker patients. That is acceptable only for supportive help. It must never be used to cancel or refuse care: in the High band, two of three patients would have come. The model card in the repository covers privacy and limitations in detail.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limits are the data: short, old, one city, and missing appointment type or distance. Next steps: switch to gradient boosting after confirming on new data, recalibrate, monitor fairness monthly, and ideally test reminders properly with a randomised trial.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repository has everything: code, data, experiments, reports, and the Colab demo.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49"/>
        </a:solidFill>
        <a:effectLst/>
      </p:bgPr>
    </p:bg>
    <p:spTree>
      <p:nvGrpSpPr>
        <p:cNvPr id="1" name=""/>
        <p:cNvGrpSpPr/>
        <p:nvPr/>
      </p:nvGrpSpPr>
      <p:grpSpPr/>
      <p:sp>
        <p:nvSpPr>
          <p:cNvPr id="2" name="TextBox 1"/>
          <p:cNvSpPr txBox="1"/>
          <p:nvPr/>
        </p:nvSpPr>
        <p:spPr>
          <a:xfrm>
            <a:off x="731520" y="914400"/>
            <a:ext cx="10058400" cy="365760"/>
          </a:xfrm>
          <a:prstGeom prst="rect">
            <a:avLst/>
          </a:prstGeom>
          <a:noFill/>
        </p:spPr>
        <p:txBody>
          <a:bodyPr wrap="square" lIns="0" rIns="0" tIns="0" bIns="0" anchor="t">
            <a:spAutoFit/>
          </a:bodyPr>
          <a:lstStyle/>
          <a:p>
            <a:pPr algn="l"/>
            <a:r>
              <a:rPr sz="1400" b="1" i="0">
                <a:solidFill>
                  <a:srgbClr val="BFDDE0"/>
                </a:solidFill>
                <a:latin typeface="Calibri"/>
              </a:rPr>
              <a:t>AI/ML FUNDAMENTALS · CAPSTONE PROJECT · TRACK 1</a:t>
            </a:r>
          </a:p>
        </p:txBody>
      </p:sp>
      <p:sp>
        <p:nvSpPr>
          <p:cNvPr id="3" name="TextBox 2"/>
          <p:cNvSpPr txBox="1"/>
          <p:nvPr/>
        </p:nvSpPr>
        <p:spPr>
          <a:xfrm>
            <a:off x="731520" y="1463040"/>
            <a:ext cx="10515600" cy="2011680"/>
          </a:xfrm>
          <a:prstGeom prst="rect">
            <a:avLst/>
          </a:prstGeom>
          <a:noFill/>
        </p:spPr>
        <p:txBody>
          <a:bodyPr wrap="square" lIns="0" rIns="0" tIns="0" bIns="0" anchor="t">
            <a:spAutoFit/>
          </a:bodyPr>
          <a:lstStyle/>
          <a:p>
            <a:pPr algn="l">
              <a:spcAft>
                <a:spcPts val="1000"/>
              </a:spcAft>
            </a:pPr>
            <a:r>
              <a:rPr sz="4800" b="1" i="0">
                <a:solidFill>
                  <a:srgbClr val="FFFFFF"/>
                </a:solidFill>
                <a:latin typeface="Cambria"/>
              </a:rPr>
              <a:t>Who will miss their appointment?</a:t>
            </a:r>
          </a:p>
          <a:p>
            <a:pPr algn="l">
              <a:spcAft>
                <a:spcPts val="1000"/>
              </a:spcAft>
            </a:pPr>
            <a:r>
              <a:rPr sz="2800" b="0" i="0">
                <a:solidFill>
                  <a:srgbClr val="BFDDE0"/>
                </a:solidFill>
                <a:latin typeface="Cambria"/>
              </a:rPr>
              <a:t>Predicting hospital appointment no-shows</a:t>
            </a:r>
          </a:p>
        </p:txBody>
      </p:sp>
      <p:sp>
        <p:nvSpPr>
          <p:cNvPr id="4" name="TextBox 3"/>
          <p:cNvSpPr txBox="1"/>
          <p:nvPr/>
        </p:nvSpPr>
        <p:spPr>
          <a:xfrm>
            <a:off x="731520" y="4023360"/>
            <a:ext cx="7315200" cy="822960"/>
          </a:xfrm>
          <a:prstGeom prst="rect">
            <a:avLst/>
          </a:prstGeom>
          <a:noFill/>
        </p:spPr>
        <p:txBody>
          <a:bodyPr wrap="square" lIns="0" rIns="0" tIns="0" bIns="0" anchor="t">
            <a:spAutoFit/>
          </a:bodyPr>
          <a:lstStyle/>
          <a:p>
            <a:pPr algn="l">
              <a:spcAft>
                <a:spcPts val="400"/>
              </a:spcAft>
            </a:pPr>
            <a:r>
              <a:rPr sz="2000" b="1" i="0">
                <a:solidFill>
                  <a:srgbClr val="FFFFFF"/>
                </a:solidFill>
                <a:latin typeface="Calibri"/>
              </a:rPr>
              <a:t>Furkat Toshmatov</a:t>
            </a:r>
          </a:p>
          <a:p>
            <a:pPr algn="l">
              <a:spcAft>
                <a:spcPts val="400"/>
              </a:spcAft>
            </a:pPr>
            <a:r>
              <a:rPr sz="1600" b="0" i="0">
                <a:solidFill>
                  <a:srgbClr val="BFDDE0"/>
                </a:solidFill>
                <a:latin typeface="Calibri"/>
              </a:rPr>
              <a:t>MED-01 · MedTech · Private Healthcare Network</a:t>
            </a:r>
          </a:p>
        </p:txBody>
      </p:sp>
      <p:sp>
        <p:nvSpPr>
          <p:cNvPr id="5" name="Rounded Rectangle 4"/>
          <p:cNvSpPr/>
          <p:nvPr/>
        </p:nvSpPr>
        <p:spPr>
          <a:xfrm>
            <a:off x="8229600" y="3840480"/>
            <a:ext cx="3291840" cy="2011680"/>
          </a:xfrm>
          <a:prstGeom prst="roundRect">
            <a:avLst>
              <a:gd name="adj" fmla="val 6000"/>
            </a:avLst>
          </a:prstGeom>
          <a:solidFill>
            <a:srgbClr val="145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0" y="4023360"/>
            <a:ext cx="2834640" cy="822960"/>
          </a:xfrm>
          <a:prstGeom prst="rect">
            <a:avLst/>
          </a:prstGeom>
          <a:noFill/>
        </p:spPr>
        <p:txBody>
          <a:bodyPr wrap="square" lIns="0" rIns="0" tIns="0" bIns="0" anchor="t">
            <a:spAutoFit/>
          </a:bodyPr>
          <a:lstStyle/>
          <a:p>
            <a:pPr algn="l"/>
            <a:r>
              <a:rPr sz="4800" b="1" i="0">
                <a:solidFill>
                  <a:srgbClr val="E85D45"/>
                </a:solidFill>
                <a:latin typeface="Cambria"/>
              </a:rPr>
              <a:t>1 in 5</a:t>
            </a:r>
          </a:p>
        </p:txBody>
      </p:sp>
      <p:sp>
        <p:nvSpPr>
          <p:cNvPr id="7" name="TextBox 6"/>
          <p:cNvSpPr txBox="1"/>
          <p:nvPr/>
        </p:nvSpPr>
        <p:spPr>
          <a:xfrm>
            <a:off x="8503920" y="4892040"/>
            <a:ext cx="2834640" cy="822960"/>
          </a:xfrm>
          <a:prstGeom prst="rect">
            <a:avLst/>
          </a:prstGeom>
          <a:noFill/>
        </p:spPr>
        <p:txBody>
          <a:bodyPr wrap="square" lIns="0" rIns="0" tIns="0" bIns="0" anchor="t">
            <a:spAutoFit/>
          </a:bodyPr>
          <a:lstStyle/>
          <a:p>
            <a:pPr algn="l"/>
            <a:r>
              <a:rPr sz="1500" b="0" i="0">
                <a:solidFill>
                  <a:srgbClr val="FFFFFF"/>
                </a:solidFill>
                <a:latin typeface="Calibri"/>
              </a:rPr>
              <a:t>outpatient appointments
is a no-show</a:t>
            </a:r>
          </a:p>
        </p:txBody>
      </p:sp>
      <p:sp>
        <p:nvSpPr>
          <p:cNvPr id="8" name="TextBox 7"/>
          <p:cNvSpPr txBox="1"/>
          <p:nvPr/>
        </p:nvSpPr>
        <p:spPr>
          <a:xfrm>
            <a:off x="731520" y="6172200"/>
            <a:ext cx="10058400" cy="365760"/>
          </a:xfrm>
          <a:prstGeom prst="rect">
            <a:avLst/>
          </a:prstGeom>
          <a:noFill/>
        </p:spPr>
        <p:txBody>
          <a:bodyPr wrap="square" lIns="0" rIns="0" tIns="0" bIns="0" anchor="t">
            <a:spAutoFit/>
          </a:bodyPr>
          <a:lstStyle/>
          <a:p>
            <a:pPr algn="l"/>
            <a:r>
              <a:rPr sz="1300" b="0" i="0">
                <a:solidFill>
                  <a:srgbClr val="BFDDE0"/>
                </a:solidFill>
                <a:latin typeface="Calibri"/>
              </a:rPr>
              <a:t>github.com/monfurkat-glitch/HealthProject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The problem: empty slots, longer waits</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A private healthcare network wants to use limited staff time better</a:t>
            </a:r>
          </a:p>
        </p:txBody>
      </p:sp>
      <p:sp>
        <p:nvSpPr>
          <p:cNvPr id="4" name="Rounded Rectangle 3"/>
          <p:cNvSpPr/>
          <p:nvPr/>
        </p:nvSpPr>
        <p:spPr>
          <a:xfrm>
            <a:off x="548640" y="1737360"/>
            <a:ext cx="5120640" cy="4297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65960"/>
            <a:ext cx="4572000" cy="914400"/>
          </a:xfrm>
          <a:prstGeom prst="rect">
            <a:avLst/>
          </a:prstGeom>
          <a:noFill/>
        </p:spPr>
        <p:txBody>
          <a:bodyPr wrap="square" lIns="0" rIns="0" tIns="0" bIns="0" anchor="t">
            <a:spAutoFit/>
          </a:bodyPr>
          <a:lstStyle/>
          <a:p>
            <a:pPr algn="l"/>
            <a:r>
              <a:rPr sz="6000" b="1" i="0">
                <a:solidFill>
                  <a:srgbClr val="E85D45"/>
                </a:solidFill>
                <a:latin typeface="Cambria"/>
              </a:rPr>
              <a:t>20.2%</a:t>
            </a:r>
          </a:p>
        </p:txBody>
      </p:sp>
      <p:sp>
        <p:nvSpPr>
          <p:cNvPr id="6" name="TextBox 5"/>
          <p:cNvSpPr txBox="1"/>
          <p:nvPr/>
        </p:nvSpPr>
        <p:spPr>
          <a:xfrm>
            <a:off x="868680" y="2926079"/>
            <a:ext cx="4572000" cy="731520"/>
          </a:xfrm>
          <a:prstGeom prst="rect">
            <a:avLst/>
          </a:prstGeom>
          <a:noFill/>
        </p:spPr>
        <p:txBody>
          <a:bodyPr wrap="square" lIns="0" rIns="0" tIns="0" bIns="0" anchor="t">
            <a:spAutoFit/>
          </a:bodyPr>
          <a:lstStyle/>
          <a:p>
            <a:pPr algn="l"/>
            <a:r>
              <a:rPr sz="1300" b="0" i="0">
                <a:solidFill>
                  <a:srgbClr val="4B5B5F"/>
                </a:solidFill>
                <a:latin typeface="Calibri"/>
              </a:rPr>
              <a:t>of 110,527 appointments were missed without notice</a:t>
            </a:r>
          </a:p>
        </p:txBody>
      </p:sp>
      <p:sp>
        <p:nvSpPr>
          <p:cNvPr id="7" name="TextBox 6"/>
          <p:cNvSpPr txBox="1"/>
          <p:nvPr/>
        </p:nvSpPr>
        <p:spPr>
          <a:xfrm>
            <a:off x="868680" y="3611880"/>
            <a:ext cx="4572000" cy="2286000"/>
          </a:xfrm>
          <a:prstGeom prst="rect">
            <a:avLst/>
          </a:prstGeom>
          <a:noFill/>
        </p:spPr>
        <p:txBody>
          <a:bodyPr wrap="square" lIns="0" rIns="0" tIns="0" bIns="0">
            <a:spAutoFit/>
          </a:bodyPr>
          <a:lstStyle/>
          <a:p>
            <a:pPr marL="256032" indent="-256032">
              <a:spcAft>
                <a:spcPts val="800"/>
              </a:spcAft>
              <a:buFont typeface="Arial"/>
              <a:buChar char="•"/>
            </a:pPr>
            <a:r>
              <a:rPr sz="1600" b="0">
                <a:solidFill>
                  <a:srgbClr val="1C2A2E"/>
                </a:solidFill>
                <a:latin typeface="Calibri"/>
              </a:rPr>
              <a:t>Wasted doctor time and clinic capacity</a:t>
            </a:r>
          </a:p>
          <a:p>
            <a:pPr marL="256032" indent="-256032">
              <a:spcAft>
                <a:spcPts val="800"/>
              </a:spcAft>
              <a:buFont typeface="Arial"/>
              <a:buChar char="•"/>
            </a:pPr>
            <a:r>
              <a:rPr sz="1600" b="0">
                <a:solidFill>
                  <a:srgbClr val="1C2A2E"/>
                </a:solidFill>
                <a:latin typeface="Calibri"/>
              </a:rPr>
              <a:t>Longer waiting lists for other patients</a:t>
            </a:r>
          </a:p>
          <a:p>
            <a:pPr marL="256032" indent="-256032">
              <a:spcAft>
                <a:spcPts val="800"/>
              </a:spcAft>
              <a:buFont typeface="Arial"/>
              <a:buChar char="•"/>
            </a:pPr>
            <a:r>
              <a:rPr sz="1600" b="0">
                <a:solidFill>
                  <a:srgbClr val="1C2A2E"/>
                </a:solidFill>
                <a:latin typeface="Calibri"/>
              </a:rPr>
              <a:t>Reminders spread evenly: no way to know who needs one most</a:t>
            </a:r>
          </a:p>
        </p:txBody>
      </p:sp>
      <p:sp>
        <p:nvSpPr>
          <p:cNvPr id="8" name="TextBox 7"/>
          <p:cNvSpPr txBox="1"/>
          <p:nvPr/>
        </p:nvSpPr>
        <p:spPr>
          <a:xfrm>
            <a:off x="6217920" y="1783080"/>
            <a:ext cx="5394960" cy="457200"/>
          </a:xfrm>
          <a:prstGeom prst="rect">
            <a:avLst/>
          </a:prstGeom>
          <a:noFill/>
        </p:spPr>
        <p:txBody>
          <a:bodyPr wrap="square" lIns="0" rIns="0" tIns="0" bIns="0" anchor="t">
            <a:spAutoFit/>
          </a:bodyPr>
          <a:lstStyle/>
          <a:p>
            <a:pPr algn="l"/>
            <a:r>
              <a:rPr sz="2200" b="1" i="0">
                <a:solidFill>
                  <a:srgbClr val="0B3C49"/>
                </a:solidFill>
                <a:latin typeface="Cambria"/>
              </a:rPr>
              <a:t>What staff need</a:t>
            </a:r>
          </a:p>
        </p:txBody>
      </p:sp>
      <p:sp>
        <p:nvSpPr>
          <p:cNvPr id="9" name="Oval 8"/>
          <p:cNvSpPr/>
          <p:nvPr/>
        </p:nvSpPr>
        <p:spPr>
          <a:xfrm>
            <a:off x="6217920" y="2423160"/>
            <a:ext cx="457200" cy="45720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10" name="TextBox 9"/>
          <p:cNvSpPr txBox="1"/>
          <p:nvPr/>
        </p:nvSpPr>
        <p:spPr>
          <a:xfrm>
            <a:off x="6858000" y="2404872"/>
            <a:ext cx="4846320" cy="1097280"/>
          </a:xfrm>
          <a:prstGeom prst="rect">
            <a:avLst/>
          </a:prstGeom>
          <a:noFill/>
        </p:spPr>
        <p:txBody>
          <a:bodyPr wrap="square" lIns="0" rIns="0" tIns="0" bIns="0" anchor="t">
            <a:spAutoFit/>
          </a:bodyPr>
          <a:lstStyle/>
          <a:p>
            <a:pPr algn="l">
              <a:spcAft>
                <a:spcPts val="200"/>
              </a:spcAft>
            </a:pPr>
            <a:r>
              <a:rPr sz="1700" b="1" i="0">
                <a:solidFill>
                  <a:srgbClr val="1C2A2E"/>
                </a:solidFill>
                <a:latin typeface="Calibri"/>
              </a:rPr>
              <a:t>A risk estimate per appointment</a:t>
            </a:r>
          </a:p>
          <a:p>
            <a:pPr algn="l">
              <a:spcAft>
                <a:spcPts val="200"/>
              </a:spcAft>
            </a:pPr>
            <a:r>
              <a:rPr sz="1500" b="0" i="0">
                <a:solidFill>
                  <a:srgbClr val="4B5B5F"/>
                </a:solidFill>
                <a:latin typeface="Calibri"/>
              </a:rPr>
              <a:t>made at booking time, before anything happens</a:t>
            </a:r>
          </a:p>
        </p:txBody>
      </p:sp>
      <p:sp>
        <p:nvSpPr>
          <p:cNvPr id="11" name="Oval 10"/>
          <p:cNvSpPr/>
          <p:nvPr/>
        </p:nvSpPr>
        <p:spPr>
          <a:xfrm>
            <a:off x="6217920" y="3611880"/>
            <a:ext cx="457200" cy="45720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2" name="TextBox 11"/>
          <p:cNvSpPr txBox="1"/>
          <p:nvPr/>
        </p:nvSpPr>
        <p:spPr>
          <a:xfrm>
            <a:off x="6858000" y="3593592"/>
            <a:ext cx="4846320" cy="1097280"/>
          </a:xfrm>
          <a:prstGeom prst="rect">
            <a:avLst/>
          </a:prstGeom>
          <a:noFill/>
        </p:spPr>
        <p:txBody>
          <a:bodyPr wrap="square" lIns="0" rIns="0" tIns="0" bIns="0" anchor="t">
            <a:spAutoFit/>
          </a:bodyPr>
          <a:lstStyle/>
          <a:p>
            <a:pPr algn="l">
              <a:spcAft>
                <a:spcPts val="200"/>
              </a:spcAft>
            </a:pPr>
            <a:r>
              <a:rPr sz="1700" b="1" i="0">
                <a:solidFill>
                  <a:srgbClr val="1C2A2E"/>
                </a:solidFill>
                <a:latin typeface="Calibri"/>
              </a:rPr>
              <a:t>A ranked list</a:t>
            </a:r>
          </a:p>
          <a:p>
            <a:pPr algn="l">
              <a:spcAft>
                <a:spcPts val="200"/>
              </a:spcAft>
            </a:pPr>
            <a:r>
              <a:rPr sz="1500" b="0" i="0">
                <a:solidFill>
                  <a:srgbClr val="4B5B5F"/>
                </a:solidFill>
                <a:latin typeface="Calibri"/>
              </a:rPr>
              <a:t>so the limited number of calls go to the riskiest appointments first</a:t>
            </a:r>
          </a:p>
        </p:txBody>
      </p:sp>
      <p:sp>
        <p:nvSpPr>
          <p:cNvPr id="13" name="Oval 12"/>
          <p:cNvSpPr/>
          <p:nvPr/>
        </p:nvSpPr>
        <p:spPr>
          <a:xfrm>
            <a:off x="6217920" y="4800600"/>
            <a:ext cx="457200" cy="45720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6858000" y="4782312"/>
            <a:ext cx="4846320" cy="1097280"/>
          </a:xfrm>
          <a:prstGeom prst="rect">
            <a:avLst/>
          </a:prstGeom>
          <a:noFill/>
        </p:spPr>
        <p:txBody>
          <a:bodyPr wrap="square" lIns="0" rIns="0" tIns="0" bIns="0" anchor="t">
            <a:spAutoFit/>
          </a:bodyPr>
          <a:lstStyle/>
          <a:p>
            <a:pPr algn="l">
              <a:spcAft>
                <a:spcPts val="200"/>
              </a:spcAft>
            </a:pPr>
            <a:r>
              <a:rPr sz="1700" b="1" i="0">
                <a:solidFill>
                  <a:srgbClr val="1C2A2E"/>
                </a:solidFill>
                <a:latin typeface="Calibri"/>
              </a:rPr>
              <a:t>Support, not automation</a:t>
            </a:r>
          </a:p>
          <a:p>
            <a:pPr algn="l">
              <a:spcAft>
                <a:spcPts val="200"/>
              </a:spcAft>
            </a:pPr>
            <a:r>
              <a:rPr sz="1500" b="0" i="0">
                <a:solidFill>
                  <a:srgbClr val="4B5B5F"/>
                </a:solidFill>
                <a:latin typeface="Calibri"/>
              </a:rPr>
              <a:t>staff decide; the system never cancels or rebooks</a:t>
            </a:r>
          </a:p>
        </p:txBody>
      </p:sp>
      <p:sp>
        <p:nvSpPr>
          <p:cNvPr id="15" name="TextBox 14"/>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2</a:t>
            </a:r>
          </a:p>
        </p:txBody>
      </p:sp>
      <p:sp>
        <p:nvSpPr>
          <p:cNvPr id="16" name="TextBox 15"/>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Framing it as a machine learning task</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Supervised binary classification on tabular data</a:t>
            </a:r>
          </a:p>
        </p:txBody>
      </p:sp>
      <p:sp>
        <p:nvSpPr>
          <p:cNvPr id="4" name="Rounded Rectangle 3"/>
          <p:cNvSpPr/>
          <p:nvPr/>
        </p:nvSpPr>
        <p:spPr>
          <a:xfrm>
            <a:off x="548640" y="1783080"/>
            <a:ext cx="3291840" cy="22402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65960"/>
            <a:ext cx="2743200" cy="457200"/>
          </a:xfrm>
          <a:prstGeom prst="rect">
            <a:avLst/>
          </a:prstGeom>
          <a:noFill/>
        </p:spPr>
        <p:txBody>
          <a:bodyPr wrap="square" lIns="0" rIns="0" tIns="0" bIns="0" anchor="t">
            <a:spAutoFit/>
          </a:bodyPr>
          <a:lstStyle/>
          <a:p>
            <a:pPr algn="l"/>
            <a:r>
              <a:rPr sz="2000" b="1" i="0">
                <a:solidFill>
                  <a:srgbClr val="13747D"/>
                </a:solidFill>
                <a:latin typeface="Cambria"/>
              </a:rPr>
              <a:t>Input</a:t>
            </a:r>
          </a:p>
        </p:txBody>
      </p:sp>
      <p:sp>
        <p:nvSpPr>
          <p:cNvPr id="6" name="TextBox 5"/>
          <p:cNvSpPr txBox="1"/>
          <p:nvPr/>
        </p:nvSpPr>
        <p:spPr>
          <a:xfrm>
            <a:off x="822959" y="2468880"/>
            <a:ext cx="2834640" cy="1463040"/>
          </a:xfrm>
          <a:prstGeom prst="rect">
            <a:avLst/>
          </a:prstGeom>
          <a:noFill/>
        </p:spPr>
        <p:txBody>
          <a:bodyPr wrap="square" lIns="0" rIns="0" tIns="0" bIns="0" anchor="t">
            <a:spAutoFit/>
          </a:bodyPr>
          <a:lstStyle/>
          <a:p>
            <a:pPr algn="l"/>
            <a:r>
              <a:rPr sz="1500" b="0" i="0">
                <a:solidFill>
                  <a:srgbClr val="1C2A2E"/>
                </a:solidFill>
                <a:latin typeface="Calibri"/>
              </a:rPr>
              <a:t>One booked appointment:
age, gender, neighbourhood,
welfare, health flags, dates,
past attendance</a:t>
            </a:r>
          </a:p>
        </p:txBody>
      </p:sp>
      <p:sp>
        <p:nvSpPr>
          <p:cNvPr id="7" name="Right Arrow 6"/>
          <p:cNvSpPr/>
          <p:nvPr/>
        </p:nvSpPr>
        <p:spPr>
          <a:xfrm>
            <a:off x="3950208" y="2743200"/>
            <a:ext cx="384048" cy="365760"/>
          </a:xfrm>
          <a:prstGeom prst="rightArrow">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1783080"/>
            <a:ext cx="3291840" cy="22402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59" y="1965960"/>
            <a:ext cx="2743200" cy="457200"/>
          </a:xfrm>
          <a:prstGeom prst="rect">
            <a:avLst/>
          </a:prstGeom>
          <a:noFill/>
        </p:spPr>
        <p:txBody>
          <a:bodyPr wrap="square" lIns="0" rIns="0" tIns="0" bIns="0" anchor="t">
            <a:spAutoFit/>
          </a:bodyPr>
          <a:lstStyle/>
          <a:p>
            <a:pPr algn="l"/>
            <a:r>
              <a:rPr sz="2000" b="1" i="0">
                <a:solidFill>
                  <a:srgbClr val="13747D"/>
                </a:solidFill>
                <a:latin typeface="Cambria"/>
              </a:rPr>
              <a:t>Model</a:t>
            </a:r>
          </a:p>
        </p:txBody>
      </p:sp>
      <p:sp>
        <p:nvSpPr>
          <p:cNvPr id="10" name="TextBox 9"/>
          <p:cNvSpPr txBox="1"/>
          <p:nvPr/>
        </p:nvSpPr>
        <p:spPr>
          <a:xfrm>
            <a:off x="4709159" y="2468880"/>
            <a:ext cx="2834640" cy="1463040"/>
          </a:xfrm>
          <a:prstGeom prst="rect">
            <a:avLst/>
          </a:prstGeom>
          <a:noFill/>
        </p:spPr>
        <p:txBody>
          <a:bodyPr wrap="square" lIns="0" rIns="0" tIns="0" bIns="0" anchor="t">
            <a:spAutoFit/>
          </a:bodyPr>
          <a:lstStyle/>
          <a:p>
            <a:pPr algn="l"/>
            <a:r>
              <a:rPr sz="1500" b="0" i="0">
                <a:solidFill>
                  <a:srgbClr val="1C2A2E"/>
                </a:solidFill>
                <a:latin typeface="Calibri"/>
              </a:rPr>
              <a:t>Trained on past
appointments with
known outcomes</a:t>
            </a:r>
          </a:p>
        </p:txBody>
      </p:sp>
      <p:sp>
        <p:nvSpPr>
          <p:cNvPr id="11" name="Right Arrow 10"/>
          <p:cNvSpPr/>
          <p:nvPr/>
        </p:nvSpPr>
        <p:spPr>
          <a:xfrm>
            <a:off x="7836408" y="2743200"/>
            <a:ext cx="384048" cy="365760"/>
          </a:xfrm>
          <a:prstGeom prst="rightArrow">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21040" y="1783080"/>
            <a:ext cx="3291840" cy="22402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965960"/>
            <a:ext cx="2743200" cy="457200"/>
          </a:xfrm>
          <a:prstGeom prst="rect">
            <a:avLst/>
          </a:prstGeom>
          <a:noFill/>
        </p:spPr>
        <p:txBody>
          <a:bodyPr wrap="square" lIns="0" rIns="0" tIns="0" bIns="0" anchor="t">
            <a:spAutoFit/>
          </a:bodyPr>
          <a:lstStyle/>
          <a:p>
            <a:pPr algn="l"/>
            <a:r>
              <a:rPr sz="2000" b="1" i="0">
                <a:solidFill>
                  <a:srgbClr val="13747D"/>
                </a:solidFill>
                <a:latin typeface="Cambria"/>
              </a:rPr>
              <a:t>Output</a:t>
            </a:r>
          </a:p>
        </p:txBody>
      </p:sp>
      <p:sp>
        <p:nvSpPr>
          <p:cNvPr id="14" name="TextBox 13"/>
          <p:cNvSpPr txBox="1"/>
          <p:nvPr/>
        </p:nvSpPr>
        <p:spPr>
          <a:xfrm>
            <a:off x="8595360" y="2468880"/>
            <a:ext cx="2834640" cy="1463040"/>
          </a:xfrm>
          <a:prstGeom prst="rect">
            <a:avLst/>
          </a:prstGeom>
          <a:noFill/>
        </p:spPr>
        <p:txBody>
          <a:bodyPr wrap="square" lIns="0" rIns="0" tIns="0" bIns="0" anchor="t">
            <a:spAutoFit/>
          </a:bodyPr>
          <a:lstStyle/>
          <a:p>
            <a:pPr algn="l"/>
            <a:r>
              <a:rPr sz="1500" b="0" i="0">
                <a:solidFill>
                  <a:srgbClr val="1C2A2E"/>
                </a:solidFill>
                <a:latin typeface="Calibri"/>
              </a:rPr>
              <a:t>No-show probability
+ Low / Medium / High band
+ main factors</a:t>
            </a:r>
          </a:p>
        </p:txBody>
      </p:sp>
      <p:sp>
        <p:nvSpPr>
          <p:cNvPr id="15" name="TextBox 14"/>
          <p:cNvSpPr txBox="1"/>
          <p:nvPr/>
        </p:nvSpPr>
        <p:spPr>
          <a:xfrm>
            <a:off x="548640" y="4343400"/>
            <a:ext cx="10972800" cy="411480"/>
          </a:xfrm>
          <a:prstGeom prst="rect">
            <a:avLst/>
          </a:prstGeom>
          <a:noFill/>
        </p:spPr>
        <p:txBody>
          <a:bodyPr wrap="square" lIns="0" rIns="0" tIns="0" bIns="0" anchor="t">
            <a:spAutoFit/>
          </a:bodyPr>
          <a:lstStyle/>
          <a:p>
            <a:pPr algn="l"/>
            <a:r>
              <a:rPr sz="2000" b="1" i="0">
                <a:solidFill>
                  <a:srgbClr val="0B3C49"/>
                </a:solidFill>
                <a:latin typeface="Cambria"/>
              </a:rPr>
              <a:t>Key decisions</a:t>
            </a:r>
          </a:p>
        </p:txBody>
      </p:sp>
      <p:sp>
        <p:nvSpPr>
          <p:cNvPr id="16" name="TextBox 15"/>
          <p:cNvSpPr txBox="1"/>
          <p:nvPr/>
        </p:nvSpPr>
        <p:spPr>
          <a:xfrm>
            <a:off x="548640" y="4800600"/>
            <a:ext cx="11064240" cy="1463040"/>
          </a:xfrm>
          <a:prstGeom prst="rect">
            <a:avLst/>
          </a:prstGeom>
          <a:noFill/>
        </p:spPr>
        <p:txBody>
          <a:bodyPr wrap="square" lIns="0" rIns="0" tIns="0" bIns="0">
            <a:spAutoFit/>
          </a:bodyPr>
          <a:lstStyle/>
          <a:p>
            <a:pPr marL="256032" indent="-256032">
              <a:spcAft>
                <a:spcPts val="600"/>
              </a:spcAft>
              <a:buFont typeface="Arial"/>
              <a:buChar char="•"/>
            </a:pPr>
            <a:r>
              <a:rPr sz="1500" b="1">
                <a:solidFill>
                  <a:srgbClr val="1C2A2E"/>
                </a:solidFill>
                <a:latin typeface="Calibri"/>
              </a:rPr>
              <a:t>Target: </a:t>
            </a:r>
            <a:r>
              <a:rPr sz="1500" b="0">
                <a:solidFill>
                  <a:srgbClr val="1C2A2E"/>
                </a:solidFill>
                <a:latin typeface="Calibri"/>
              </a:rPr>
              <a:t>the No-show column (Yes = did not attend)</a:t>
            </a:r>
          </a:p>
          <a:p>
            <a:pPr marL="256032" indent="-256032">
              <a:spcAft>
                <a:spcPts val="600"/>
              </a:spcAft>
              <a:buFont typeface="Arial"/>
              <a:buChar char="•"/>
            </a:pPr>
            <a:r>
              <a:rPr sz="1500" b="1">
                <a:solidFill>
                  <a:srgbClr val="1C2A2E"/>
                </a:solidFill>
                <a:latin typeface="Calibri"/>
              </a:rPr>
              <a:t>Prediction moment: booking time. </a:t>
            </a:r>
            <a:r>
              <a:rPr sz="1500" b="0">
                <a:solidFill>
                  <a:srgbClr val="1C2A2E"/>
                </a:solidFill>
                <a:latin typeface="Calibri"/>
              </a:rPr>
              <a:t>Only information known then may be used, so SMS reminder status is excluded</a:t>
            </a:r>
          </a:p>
          <a:p>
            <a:pPr marL="256032" indent="-256032">
              <a:spcAft>
                <a:spcPts val="600"/>
              </a:spcAft>
              <a:buFont typeface="Arial"/>
              <a:buChar char="•"/>
            </a:pPr>
            <a:r>
              <a:rPr sz="1500" b="1">
                <a:solidFill>
                  <a:srgbClr val="1C2A2E"/>
                </a:solidFill>
                <a:latin typeface="Calibri"/>
              </a:rPr>
              <a:t>Not accuracy: </a:t>
            </a:r>
            <a:r>
              <a:rPr sz="1500" b="0">
                <a:solidFill>
                  <a:srgbClr val="1C2A2E"/>
                </a:solidFill>
                <a:latin typeface="Calibri"/>
              </a:rPr>
              <a:t>always guessing "attends" is already 81% accurate. I use ROC-AUC, PR-AUC, and how many no-shows are in the riskiest 20%</a:t>
            </a:r>
          </a:p>
        </p:txBody>
      </p:sp>
      <p:sp>
        <p:nvSpPr>
          <p:cNvPr id="17" name="TextBox 16"/>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3</a:t>
            </a:r>
          </a:p>
        </p:txBody>
      </p:sp>
      <p:sp>
        <p:nvSpPr>
          <p:cNvPr id="18" name="TextBox 17"/>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The data: 110,527 real appointments</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Kaggle · Medical Appointment No Shows · public clinics in Vitória, Brazil · CC BY-NC-SA 4.0</a:t>
            </a:r>
          </a:p>
        </p:txBody>
      </p:sp>
      <p:sp>
        <p:nvSpPr>
          <p:cNvPr id="4" name="TextBox 3"/>
          <p:cNvSpPr txBox="1"/>
          <p:nvPr/>
        </p:nvSpPr>
        <p:spPr>
          <a:xfrm>
            <a:off x="548640" y="1737360"/>
            <a:ext cx="2651760" cy="609600"/>
          </a:xfrm>
          <a:prstGeom prst="rect">
            <a:avLst/>
          </a:prstGeom>
          <a:noFill/>
        </p:spPr>
        <p:txBody>
          <a:bodyPr wrap="square" lIns="0" rIns="0" tIns="0" bIns="0" anchor="t">
            <a:spAutoFit/>
          </a:bodyPr>
          <a:lstStyle/>
          <a:p>
            <a:pPr algn="l"/>
            <a:r>
              <a:rPr sz="4000" b="1" i="0">
                <a:solidFill>
                  <a:srgbClr val="13747D"/>
                </a:solidFill>
                <a:latin typeface="Cambria"/>
              </a:rPr>
              <a:t>110,527</a:t>
            </a:r>
          </a:p>
        </p:txBody>
      </p:sp>
      <p:sp>
        <p:nvSpPr>
          <p:cNvPr id="5" name="TextBox 4"/>
          <p:cNvSpPr txBox="1"/>
          <p:nvPr/>
        </p:nvSpPr>
        <p:spPr>
          <a:xfrm>
            <a:off x="548640" y="2392679"/>
            <a:ext cx="2651760" cy="731520"/>
          </a:xfrm>
          <a:prstGeom prst="rect">
            <a:avLst/>
          </a:prstGeom>
          <a:noFill/>
        </p:spPr>
        <p:txBody>
          <a:bodyPr wrap="square" lIns="0" rIns="0" tIns="0" bIns="0" anchor="t">
            <a:spAutoFit/>
          </a:bodyPr>
          <a:lstStyle/>
          <a:p>
            <a:pPr algn="l"/>
            <a:r>
              <a:rPr sz="1300" b="0" i="0">
                <a:solidFill>
                  <a:srgbClr val="4B5B5F"/>
                </a:solidFill>
                <a:latin typeface="Calibri"/>
              </a:rPr>
              <a:t>appointments</a:t>
            </a:r>
          </a:p>
        </p:txBody>
      </p:sp>
      <p:sp>
        <p:nvSpPr>
          <p:cNvPr id="6" name="TextBox 5"/>
          <p:cNvSpPr txBox="1"/>
          <p:nvPr/>
        </p:nvSpPr>
        <p:spPr>
          <a:xfrm>
            <a:off x="3429000" y="1737360"/>
            <a:ext cx="2651760" cy="609600"/>
          </a:xfrm>
          <a:prstGeom prst="rect">
            <a:avLst/>
          </a:prstGeom>
          <a:noFill/>
        </p:spPr>
        <p:txBody>
          <a:bodyPr wrap="square" lIns="0" rIns="0" tIns="0" bIns="0" anchor="t">
            <a:spAutoFit/>
          </a:bodyPr>
          <a:lstStyle/>
          <a:p>
            <a:pPr algn="l"/>
            <a:r>
              <a:rPr sz="4000" b="1" i="0">
                <a:solidFill>
                  <a:srgbClr val="13747D"/>
                </a:solidFill>
                <a:latin typeface="Cambria"/>
              </a:rPr>
              <a:t>62,299</a:t>
            </a:r>
          </a:p>
        </p:txBody>
      </p:sp>
      <p:sp>
        <p:nvSpPr>
          <p:cNvPr id="7" name="TextBox 6"/>
          <p:cNvSpPr txBox="1"/>
          <p:nvPr/>
        </p:nvSpPr>
        <p:spPr>
          <a:xfrm>
            <a:off x="3429000" y="2392679"/>
            <a:ext cx="2651760" cy="731520"/>
          </a:xfrm>
          <a:prstGeom prst="rect">
            <a:avLst/>
          </a:prstGeom>
          <a:noFill/>
        </p:spPr>
        <p:txBody>
          <a:bodyPr wrap="square" lIns="0" rIns="0" tIns="0" bIns="0" anchor="t">
            <a:spAutoFit/>
          </a:bodyPr>
          <a:lstStyle/>
          <a:p>
            <a:pPr algn="l"/>
            <a:r>
              <a:rPr sz="1300" b="0" i="0">
                <a:solidFill>
                  <a:srgbClr val="4B5B5F"/>
                </a:solidFill>
                <a:latin typeface="Calibri"/>
              </a:rPr>
              <a:t>patients</a:t>
            </a:r>
          </a:p>
        </p:txBody>
      </p:sp>
      <p:sp>
        <p:nvSpPr>
          <p:cNvPr id="8" name="TextBox 7"/>
          <p:cNvSpPr txBox="1"/>
          <p:nvPr/>
        </p:nvSpPr>
        <p:spPr>
          <a:xfrm>
            <a:off x="6309359" y="1737360"/>
            <a:ext cx="2651760" cy="609600"/>
          </a:xfrm>
          <a:prstGeom prst="rect">
            <a:avLst/>
          </a:prstGeom>
          <a:noFill/>
        </p:spPr>
        <p:txBody>
          <a:bodyPr wrap="square" lIns="0" rIns="0" tIns="0" bIns="0" anchor="t">
            <a:spAutoFit/>
          </a:bodyPr>
          <a:lstStyle/>
          <a:p>
            <a:pPr algn="l"/>
            <a:r>
              <a:rPr sz="4000" b="1" i="0">
                <a:solidFill>
                  <a:srgbClr val="13747D"/>
                </a:solidFill>
                <a:latin typeface="Cambria"/>
              </a:rPr>
              <a:t>27</a:t>
            </a:r>
          </a:p>
        </p:txBody>
      </p:sp>
      <p:sp>
        <p:nvSpPr>
          <p:cNvPr id="9" name="TextBox 8"/>
          <p:cNvSpPr txBox="1"/>
          <p:nvPr/>
        </p:nvSpPr>
        <p:spPr>
          <a:xfrm>
            <a:off x="6309359" y="2392679"/>
            <a:ext cx="2651760" cy="731520"/>
          </a:xfrm>
          <a:prstGeom prst="rect">
            <a:avLst/>
          </a:prstGeom>
          <a:noFill/>
        </p:spPr>
        <p:txBody>
          <a:bodyPr wrap="square" lIns="0" rIns="0" tIns="0" bIns="0" anchor="t">
            <a:spAutoFit/>
          </a:bodyPr>
          <a:lstStyle/>
          <a:p>
            <a:pPr algn="l"/>
            <a:r>
              <a:rPr sz="1300" b="0" i="0">
                <a:solidFill>
                  <a:srgbClr val="4B5B5F"/>
                </a:solidFill>
                <a:latin typeface="Calibri"/>
              </a:rPr>
              <a:t>appointment dates
(about 6 weeks, 2016)</a:t>
            </a:r>
          </a:p>
        </p:txBody>
      </p:sp>
      <p:sp>
        <p:nvSpPr>
          <p:cNvPr id="10" name="TextBox 9"/>
          <p:cNvSpPr txBox="1"/>
          <p:nvPr/>
        </p:nvSpPr>
        <p:spPr>
          <a:xfrm>
            <a:off x="9189719" y="1737360"/>
            <a:ext cx="2651760" cy="609600"/>
          </a:xfrm>
          <a:prstGeom prst="rect">
            <a:avLst/>
          </a:prstGeom>
          <a:noFill/>
        </p:spPr>
        <p:txBody>
          <a:bodyPr wrap="square" lIns="0" rIns="0" tIns="0" bIns="0" anchor="t">
            <a:spAutoFit/>
          </a:bodyPr>
          <a:lstStyle/>
          <a:p>
            <a:pPr algn="l"/>
            <a:r>
              <a:rPr sz="4000" b="1" i="0">
                <a:solidFill>
                  <a:srgbClr val="13747D"/>
                </a:solidFill>
                <a:latin typeface="Cambria"/>
              </a:rPr>
              <a:t>14</a:t>
            </a:r>
          </a:p>
        </p:txBody>
      </p:sp>
      <p:sp>
        <p:nvSpPr>
          <p:cNvPr id="11" name="TextBox 10"/>
          <p:cNvSpPr txBox="1"/>
          <p:nvPr/>
        </p:nvSpPr>
        <p:spPr>
          <a:xfrm>
            <a:off x="9189719" y="2392679"/>
            <a:ext cx="2651760" cy="731520"/>
          </a:xfrm>
          <a:prstGeom prst="rect">
            <a:avLst/>
          </a:prstGeom>
          <a:noFill/>
        </p:spPr>
        <p:txBody>
          <a:bodyPr wrap="square" lIns="0" rIns="0" tIns="0" bIns="0" anchor="t">
            <a:spAutoFit/>
          </a:bodyPr>
          <a:lstStyle/>
          <a:p>
            <a:pPr algn="l"/>
            <a:r>
              <a:rPr sz="1300" b="0" i="0">
                <a:solidFill>
                  <a:srgbClr val="4B5B5F"/>
                </a:solidFill>
                <a:latin typeface="Calibri"/>
              </a:rPr>
              <a:t>columns, no missing
values</a:t>
            </a:r>
          </a:p>
        </p:txBody>
      </p:sp>
      <p:sp>
        <p:nvSpPr>
          <p:cNvPr id="12" name="TextBox 11"/>
          <p:cNvSpPr txBox="1"/>
          <p:nvPr/>
        </p:nvSpPr>
        <p:spPr>
          <a:xfrm>
            <a:off x="548640" y="3611880"/>
            <a:ext cx="10972800" cy="411480"/>
          </a:xfrm>
          <a:prstGeom prst="rect">
            <a:avLst/>
          </a:prstGeom>
          <a:noFill/>
        </p:spPr>
        <p:txBody>
          <a:bodyPr wrap="square" lIns="0" rIns="0" tIns="0" bIns="0" anchor="t">
            <a:spAutoFit/>
          </a:bodyPr>
          <a:lstStyle/>
          <a:p>
            <a:pPr algn="l"/>
            <a:r>
              <a:rPr sz="2000" b="1" i="0">
                <a:solidFill>
                  <a:srgbClr val="0B3C49"/>
                </a:solidFill>
                <a:latin typeface="Cambria"/>
              </a:rPr>
              <a:t>Problems found, and what I did</a:t>
            </a:r>
          </a:p>
        </p:txBody>
      </p:sp>
      <p:sp>
        <p:nvSpPr>
          <p:cNvPr id="13" name="Rounded Rectangle 12"/>
          <p:cNvSpPr/>
          <p:nvPr/>
        </p:nvSpPr>
        <p:spPr>
          <a:xfrm>
            <a:off x="548640" y="4114800"/>
            <a:ext cx="11064240" cy="36576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178808"/>
            <a:ext cx="5303520" cy="274320"/>
          </a:xfrm>
          <a:prstGeom prst="rect">
            <a:avLst/>
          </a:prstGeom>
          <a:noFill/>
        </p:spPr>
        <p:txBody>
          <a:bodyPr wrap="square" lIns="0" rIns="0" tIns="0" bIns="0" anchor="t">
            <a:spAutoFit/>
          </a:bodyPr>
          <a:lstStyle/>
          <a:p>
            <a:pPr algn="l"/>
            <a:r>
              <a:rPr sz="1400" b="0" i="0">
                <a:solidFill>
                  <a:srgbClr val="1C2A2E"/>
                </a:solidFill>
                <a:latin typeface="Calibri"/>
              </a:rPr>
              <a:t>Age = -1 (1 row)</a:t>
            </a:r>
          </a:p>
        </p:txBody>
      </p:sp>
      <p:sp>
        <p:nvSpPr>
          <p:cNvPr id="15" name="TextBox 14"/>
          <p:cNvSpPr txBox="1"/>
          <p:nvPr/>
        </p:nvSpPr>
        <p:spPr>
          <a:xfrm>
            <a:off x="6309360" y="4178808"/>
            <a:ext cx="5212080" cy="274320"/>
          </a:xfrm>
          <a:prstGeom prst="rect">
            <a:avLst/>
          </a:prstGeom>
          <a:noFill/>
        </p:spPr>
        <p:txBody>
          <a:bodyPr wrap="square" lIns="0" rIns="0" tIns="0" bIns="0" anchor="t">
            <a:spAutoFit/>
          </a:bodyPr>
          <a:lstStyle/>
          <a:p>
            <a:pPr algn="l"/>
            <a:r>
              <a:rPr sz="1400" b="1" i="0">
                <a:solidFill>
                  <a:srgbClr val="13747D"/>
                </a:solidFill>
                <a:latin typeface="Calibri"/>
              </a:rPr>
              <a:t>→  dropped</a:t>
            </a:r>
          </a:p>
        </p:txBody>
      </p:sp>
      <p:sp>
        <p:nvSpPr>
          <p:cNvPr id="16" name="Rounded Rectangle 15"/>
          <p:cNvSpPr/>
          <p:nvPr/>
        </p:nvSpPr>
        <p:spPr>
          <a:xfrm>
            <a:off x="548640" y="4544568"/>
            <a:ext cx="11064240" cy="365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608576"/>
            <a:ext cx="5303520" cy="274320"/>
          </a:xfrm>
          <a:prstGeom prst="rect">
            <a:avLst/>
          </a:prstGeom>
          <a:noFill/>
        </p:spPr>
        <p:txBody>
          <a:bodyPr wrap="square" lIns="0" rIns="0" tIns="0" bIns="0" anchor="t">
            <a:spAutoFit/>
          </a:bodyPr>
          <a:lstStyle/>
          <a:p>
            <a:pPr algn="l"/>
            <a:r>
              <a:rPr sz="1400" b="0" i="0">
                <a:solidFill>
                  <a:srgbClr val="1C2A2E"/>
                </a:solidFill>
                <a:latin typeface="Calibri"/>
              </a:rPr>
              <a:t>Booked after the appointment (5 rows)</a:t>
            </a:r>
          </a:p>
        </p:txBody>
      </p:sp>
      <p:sp>
        <p:nvSpPr>
          <p:cNvPr id="18" name="TextBox 17"/>
          <p:cNvSpPr txBox="1"/>
          <p:nvPr/>
        </p:nvSpPr>
        <p:spPr>
          <a:xfrm>
            <a:off x="6309360" y="4608576"/>
            <a:ext cx="5212080" cy="274320"/>
          </a:xfrm>
          <a:prstGeom prst="rect">
            <a:avLst/>
          </a:prstGeom>
          <a:noFill/>
        </p:spPr>
        <p:txBody>
          <a:bodyPr wrap="square" lIns="0" rIns="0" tIns="0" bIns="0" anchor="t">
            <a:spAutoFit/>
          </a:bodyPr>
          <a:lstStyle/>
          <a:p>
            <a:pPr algn="l"/>
            <a:r>
              <a:rPr sz="1400" b="1" i="0">
                <a:solidFill>
                  <a:srgbClr val="13747D"/>
                </a:solidFill>
                <a:latin typeface="Calibri"/>
              </a:rPr>
              <a:t>→  dropped: impossible in real use</a:t>
            </a:r>
          </a:p>
        </p:txBody>
      </p:sp>
      <p:sp>
        <p:nvSpPr>
          <p:cNvPr id="19" name="Rounded Rectangle 18"/>
          <p:cNvSpPr/>
          <p:nvPr/>
        </p:nvSpPr>
        <p:spPr>
          <a:xfrm>
            <a:off x="548640" y="4974336"/>
            <a:ext cx="11064240" cy="36576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38344"/>
            <a:ext cx="5303520" cy="274320"/>
          </a:xfrm>
          <a:prstGeom prst="rect">
            <a:avLst/>
          </a:prstGeom>
          <a:noFill/>
        </p:spPr>
        <p:txBody>
          <a:bodyPr wrap="square" lIns="0" rIns="0" tIns="0" bIns="0" anchor="t">
            <a:spAutoFit/>
          </a:bodyPr>
          <a:lstStyle/>
          <a:p>
            <a:pPr algn="l"/>
            <a:r>
              <a:rPr sz="1400" b="0" i="0">
                <a:solidFill>
                  <a:srgbClr val="1C2A2E"/>
                </a:solidFill>
                <a:latin typeface="Calibri"/>
              </a:rPr>
              <a:t>Handcap is a 0–4 count, not yes/no</a:t>
            </a:r>
          </a:p>
        </p:txBody>
      </p:sp>
      <p:sp>
        <p:nvSpPr>
          <p:cNvPr id="21" name="TextBox 20"/>
          <p:cNvSpPr txBox="1"/>
          <p:nvPr/>
        </p:nvSpPr>
        <p:spPr>
          <a:xfrm>
            <a:off x="6309360" y="5038344"/>
            <a:ext cx="5212080" cy="274320"/>
          </a:xfrm>
          <a:prstGeom prst="rect">
            <a:avLst/>
          </a:prstGeom>
          <a:noFill/>
        </p:spPr>
        <p:txBody>
          <a:bodyPr wrap="square" lIns="0" rIns="0" tIns="0" bIns="0" anchor="t">
            <a:spAutoFit/>
          </a:bodyPr>
          <a:lstStyle/>
          <a:p>
            <a:pPr algn="l"/>
            <a:r>
              <a:rPr sz="1400" b="1" i="0">
                <a:solidFill>
                  <a:srgbClr val="13747D"/>
                </a:solidFill>
                <a:latin typeface="Calibri"/>
              </a:rPr>
              <a:t>→  converted to a disability flag</a:t>
            </a:r>
          </a:p>
        </p:txBody>
      </p:sp>
      <p:sp>
        <p:nvSpPr>
          <p:cNvPr id="22" name="Rounded Rectangle 21"/>
          <p:cNvSpPr/>
          <p:nvPr/>
        </p:nvSpPr>
        <p:spPr>
          <a:xfrm>
            <a:off x="548640" y="5404104"/>
            <a:ext cx="11064240" cy="365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68112"/>
            <a:ext cx="5303520" cy="274320"/>
          </a:xfrm>
          <a:prstGeom prst="rect">
            <a:avLst/>
          </a:prstGeom>
          <a:noFill/>
        </p:spPr>
        <p:txBody>
          <a:bodyPr wrap="square" lIns="0" rIns="0" tIns="0" bIns="0" anchor="t">
            <a:spAutoFit/>
          </a:bodyPr>
          <a:lstStyle/>
          <a:p>
            <a:pPr algn="l"/>
            <a:r>
              <a:rPr sz="1400" b="0" i="0">
                <a:solidFill>
                  <a:srgbClr val="1C2A2E"/>
                </a:solidFill>
                <a:latin typeface="Calibri"/>
              </a:rPr>
              <a:t>81 neighbourhoods, some with 1–35 rows</a:t>
            </a:r>
          </a:p>
        </p:txBody>
      </p:sp>
      <p:sp>
        <p:nvSpPr>
          <p:cNvPr id="24" name="TextBox 23"/>
          <p:cNvSpPr txBox="1"/>
          <p:nvPr/>
        </p:nvSpPr>
        <p:spPr>
          <a:xfrm>
            <a:off x="6309360" y="5468112"/>
            <a:ext cx="5212080" cy="274320"/>
          </a:xfrm>
          <a:prstGeom prst="rect">
            <a:avLst/>
          </a:prstGeom>
          <a:noFill/>
        </p:spPr>
        <p:txBody>
          <a:bodyPr wrap="square" lIns="0" rIns="0" tIns="0" bIns="0" anchor="t">
            <a:spAutoFit/>
          </a:bodyPr>
          <a:lstStyle/>
          <a:p>
            <a:pPr algn="l"/>
            <a:r>
              <a:rPr sz="1400" b="1" i="0">
                <a:solidFill>
                  <a:srgbClr val="13747D"/>
                </a:solidFill>
                <a:latin typeface="Calibri"/>
              </a:rPr>
              <a:t>→  rare and unseen ones grouped together</a:t>
            </a:r>
          </a:p>
        </p:txBody>
      </p:sp>
      <p:sp>
        <p:nvSpPr>
          <p:cNvPr id="25" name="Rounded Rectangle 24"/>
          <p:cNvSpPr/>
          <p:nvPr/>
        </p:nvSpPr>
        <p:spPr>
          <a:xfrm>
            <a:off x="548640" y="5833872"/>
            <a:ext cx="11064240" cy="36576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897880"/>
            <a:ext cx="5303520" cy="274320"/>
          </a:xfrm>
          <a:prstGeom prst="rect">
            <a:avLst/>
          </a:prstGeom>
          <a:noFill/>
        </p:spPr>
        <p:txBody>
          <a:bodyPr wrap="square" lIns="0" rIns="0" tIns="0" bIns="0" anchor="t">
            <a:spAutoFit/>
          </a:bodyPr>
          <a:lstStyle/>
          <a:p>
            <a:pPr algn="l"/>
            <a:r>
              <a:rPr sz="1400" b="0" i="0">
                <a:solidFill>
                  <a:srgbClr val="1C2A2E"/>
                </a:solidFill>
                <a:latin typeface="Calibri"/>
              </a:rPr>
              <a:t>20% no-shows: imbalanced</a:t>
            </a:r>
          </a:p>
        </p:txBody>
      </p:sp>
      <p:sp>
        <p:nvSpPr>
          <p:cNvPr id="27" name="TextBox 26"/>
          <p:cNvSpPr txBox="1"/>
          <p:nvPr/>
        </p:nvSpPr>
        <p:spPr>
          <a:xfrm>
            <a:off x="6309360" y="5897880"/>
            <a:ext cx="5212080" cy="274320"/>
          </a:xfrm>
          <a:prstGeom prst="rect">
            <a:avLst/>
          </a:prstGeom>
          <a:noFill/>
        </p:spPr>
        <p:txBody>
          <a:bodyPr wrap="square" lIns="0" rIns="0" tIns="0" bIns="0" anchor="t">
            <a:spAutoFit/>
          </a:bodyPr>
          <a:lstStyle/>
          <a:p>
            <a:pPr algn="l"/>
            <a:r>
              <a:rPr sz="1400" b="1" i="0">
                <a:solidFill>
                  <a:srgbClr val="13747D"/>
                </a:solidFill>
                <a:latin typeface="Calibri"/>
              </a:rPr>
              <a:t>→  ranking metrics, threshold chosen for staff capacity</a:t>
            </a:r>
          </a:p>
        </p:txBody>
      </p:sp>
      <p:sp>
        <p:nvSpPr>
          <p:cNvPr id="28" name="TextBox 27"/>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4</a:t>
            </a:r>
          </a:p>
        </p:txBody>
      </p:sp>
      <p:sp>
        <p:nvSpPr>
          <p:cNvPr id="29" name="TextBox 28"/>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Strongest signal: booking lead time</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No-show rate by lead time (days between booking and appointment)</a:t>
            </a:r>
          </a:p>
        </p:txBody>
      </p:sp>
      <p:graphicFrame>
        <p:nvGraphicFramePr>
          <p:cNvPr id="4" name="Chart 3"/>
          <p:cNvGraphicFramePr>
            <a:graphicFrameLocks noGrp="1"/>
          </p:cNvGraphicFramePr>
          <p:nvPr/>
        </p:nvGraphicFramePr>
        <p:xfrm>
          <a:off x="548640" y="1645920"/>
          <a:ext cx="7498079" cy="4480560"/>
        </p:xfrm>
        <a:graphic>
          <a:graphicData uri="http://schemas.openxmlformats.org/drawingml/2006/chart">
            <c:chart xmlns:c="http://schemas.openxmlformats.org/drawingml/2006/chart" r:id="rId2"/>
          </a:graphicData>
        </a:graphic>
      </p:graphicFrame>
      <p:sp>
        <p:nvSpPr>
          <p:cNvPr id="5" name="Rounded Rectangle 4"/>
          <p:cNvSpPr/>
          <p:nvPr/>
        </p:nvSpPr>
        <p:spPr>
          <a:xfrm>
            <a:off x="8412480" y="1737360"/>
            <a:ext cx="3200400" cy="4297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0" y="1920240"/>
            <a:ext cx="2743200" cy="731519"/>
          </a:xfrm>
          <a:prstGeom prst="rect">
            <a:avLst/>
          </a:prstGeom>
          <a:noFill/>
        </p:spPr>
        <p:txBody>
          <a:bodyPr wrap="square" lIns="0" rIns="0" tIns="0" bIns="0" anchor="t">
            <a:spAutoFit/>
          </a:bodyPr>
          <a:lstStyle/>
          <a:p>
            <a:pPr algn="l"/>
            <a:r>
              <a:rPr sz="4800" b="1" i="0">
                <a:solidFill>
                  <a:srgbClr val="13747D"/>
                </a:solidFill>
                <a:latin typeface="Cambria"/>
              </a:rPr>
              <a:t>4.6%</a:t>
            </a:r>
          </a:p>
        </p:txBody>
      </p:sp>
      <p:sp>
        <p:nvSpPr>
          <p:cNvPr id="7" name="TextBox 6"/>
          <p:cNvSpPr txBox="1"/>
          <p:nvPr/>
        </p:nvSpPr>
        <p:spPr>
          <a:xfrm>
            <a:off x="8686800" y="2697479"/>
            <a:ext cx="2743200" cy="731520"/>
          </a:xfrm>
          <a:prstGeom prst="rect">
            <a:avLst/>
          </a:prstGeom>
          <a:noFill/>
        </p:spPr>
        <p:txBody>
          <a:bodyPr wrap="square" lIns="0" rIns="0" tIns="0" bIns="0" anchor="t">
            <a:spAutoFit/>
          </a:bodyPr>
          <a:lstStyle/>
          <a:p>
            <a:pPr algn="l"/>
            <a:r>
              <a:rPr sz="1300" b="0" i="0">
                <a:solidFill>
                  <a:srgbClr val="4B5B5F"/>
                </a:solidFill>
                <a:latin typeface="Calibri"/>
              </a:rPr>
              <a:t>no-shows for same-day bookings</a:t>
            </a:r>
          </a:p>
        </p:txBody>
      </p:sp>
      <p:sp>
        <p:nvSpPr>
          <p:cNvPr id="8" name="TextBox 7"/>
          <p:cNvSpPr txBox="1"/>
          <p:nvPr/>
        </p:nvSpPr>
        <p:spPr>
          <a:xfrm>
            <a:off x="8686800" y="3383280"/>
            <a:ext cx="2743200" cy="731519"/>
          </a:xfrm>
          <a:prstGeom prst="rect">
            <a:avLst/>
          </a:prstGeom>
          <a:noFill/>
        </p:spPr>
        <p:txBody>
          <a:bodyPr wrap="square" lIns="0" rIns="0" tIns="0" bIns="0" anchor="t">
            <a:spAutoFit/>
          </a:bodyPr>
          <a:lstStyle/>
          <a:p>
            <a:pPr algn="l"/>
            <a:r>
              <a:rPr sz="4800" b="1" i="0">
                <a:solidFill>
                  <a:srgbClr val="E85D45"/>
                </a:solidFill>
                <a:latin typeface="Cambria"/>
              </a:rPr>
              <a:t>28.5%</a:t>
            </a:r>
          </a:p>
        </p:txBody>
      </p:sp>
      <p:sp>
        <p:nvSpPr>
          <p:cNvPr id="9" name="TextBox 8"/>
          <p:cNvSpPr txBox="1"/>
          <p:nvPr/>
        </p:nvSpPr>
        <p:spPr>
          <a:xfrm>
            <a:off x="8686800" y="4160520"/>
            <a:ext cx="2743200" cy="731520"/>
          </a:xfrm>
          <a:prstGeom prst="rect">
            <a:avLst/>
          </a:prstGeom>
          <a:noFill/>
        </p:spPr>
        <p:txBody>
          <a:bodyPr wrap="square" lIns="0" rIns="0" tIns="0" bIns="0" anchor="t">
            <a:spAutoFit/>
          </a:bodyPr>
          <a:lstStyle/>
          <a:p>
            <a:pPr algn="l"/>
            <a:r>
              <a:rPr sz="1300" b="0" i="0">
                <a:solidFill>
                  <a:srgbClr val="4B5B5F"/>
                </a:solidFill>
                <a:latin typeface="Calibri"/>
              </a:rPr>
              <a:t>for everything booked in advance</a:t>
            </a:r>
          </a:p>
        </p:txBody>
      </p:sp>
      <p:sp>
        <p:nvSpPr>
          <p:cNvPr id="10" name="TextBox 9"/>
          <p:cNvSpPr txBox="1"/>
          <p:nvPr/>
        </p:nvSpPr>
        <p:spPr>
          <a:xfrm>
            <a:off x="8686800" y="4846320"/>
            <a:ext cx="2743200" cy="1097280"/>
          </a:xfrm>
          <a:prstGeom prst="rect">
            <a:avLst/>
          </a:prstGeom>
          <a:noFill/>
        </p:spPr>
        <p:txBody>
          <a:bodyPr wrap="square" lIns="0" rIns="0" tIns="0" bIns="0" anchor="t">
            <a:spAutoFit/>
          </a:bodyPr>
          <a:lstStyle/>
          <a:p>
            <a:pPr algn="l"/>
            <a:r>
              <a:rPr sz="1300" b="0" i="0">
                <a:solidFill>
                  <a:srgbClr val="4B5B5F"/>
                </a:solidFill>
                <a:latin typeface="Calibri"/>
              </a:rPr>
              <a:t>Age matters too (teenagers miss most). Health flags, gender, and weekday move the rate by less than 4 points.</a:t>
            </a:r>
          </a:p>
        </p:txBody>
      </p:sp>
      <p:sp>
        <p:nvSpPr>
          <p:cNvPr id="11" name="TextBox 10"/>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5</a:t>
            </a:r>
          </a:p>
        </p:txBody>
      </p:sp>
      <p:sp>
        <p:nvSpPr>
          <p:cNvPr id="12" name="TextBox 1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A trap in the data: SMS reminders "cause" no-shows?</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Raw data says yes. Comparing like with like says no.</a:t>
            </a:r>
          </a:p>
        </p:txBody>
      </p:sp>
      <p:sp>
        <p:nvSpPr>
          <p:cNvPr id="4" name="Rounded Rectangle 3"/>
          <p:cNvSpPr/>
          <p:nvPr/>
        </p:nvSpPr>
        <p:spPr>
          <a:xfrm>
            <a:off x="548640" y="1737360"/>
            <a:ext cx="3200400" cy="434340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20240"/>
            <a:ext cx="2743200" cy="365760"/>
          </a:xfrm>
          <a:prstGeom prst="rect">
            <a:avLst/>
          </a:prstGeom>
          <a:noFill/>
        </p:spPr>
        <p:txBody>
          <a:bodyPr wrap="square" lIns="0" rIns="0" tIns="0" bIns="0" anchor="t">
            <a:spAutoFit/>
          </a:bodyPr>
          <a:lstStyle/>
          <a:p>
            <a:pPr algn="l"/>
            <a:r>
              <a:rPr sz="1700" b="1" i="0">
                <a:solidFill>
                  <a:srgbClr val="0B3C49"/>
                </a:solidFill>
                <a:latin typeface="Cambria"/>
              </a:rPr>
              <a:t>Raw comparison</a:t>
            </a:r>
          </a:p>
        </p:txBody>
      </p:sp>
      <p:sp>
        <p:nvSpPr>
          <p:cNvPr id="6" name="TextBox 5"/>
          <p:cNvSpPr txBox="1"/>
          <p:nvPr/>
        </p:nvSpPr>
        <p:spPr>
          <a:xfrm>
            <a:off x="822960" y="2423160"/>
            <a:ext cx="2743200" cy="609600"/>
          </a:xfrm>
          <a:prstGeom prst="rect">
            <a:avLst/>
          </a:prstGeom>
          <a:noFill/>
        </p:spPr>
        <p:txBody>
          <a:bodyPr wrap="square" lIns="0" rIns="0" tIns="0" bIns="0" anchor="t">
            <a:spAutoFit/>
          </a:bodyPr>
          <a:lstStyle/>
          <a:p>
            <a:pPr algn="l"/>
            <a:r>
              <a:rPr sz="4000" b="1" i="0">
                <a:solidFill>
                  <a:srgbClr val="E85D45"/>
                </a:solidFill>
                <a:latin typeface="Cambria"/>
              </a:rPr>
              <a:t>27.6%</a:t>
            </a:r>
          </a:p>
        </p:txBody>
      </p:sp>
      <p:sp>
        <p:nvSpPr>
          <p:cNvPr id="7" name="TextBox 6"/>
          <p:cNvSpPr txBox="1"/>
          <p:nvPr/>
        </p:nvSpPr>
        <p:spPr>
          <a:xfrm>
            <a:off x="822960" y="3078479"/>
            <a:ext cx="2743200" cy="731520"/>
          </a:xfrm>
          <a:prstGeom prst="rect">
            <a:avLst/>
          </a:prstGeom>
          <a:noFill/>
        </p:spPr>
        <p:txBody>
          <a:bodyPr wrap="square" lIns="0" rIns="0" tIns="0" bIns="0" anchor="t">
            <a:spAutoFit/>
          </a:bodyPr>
          <a:lstStyle/>
          <a:p>
            <a:pPr algn="l"/>
            <a:r>
              <a:rPr sz="1300" b="0" i="0">
                <a:solidFill>
                  <a:srgbClr val="4B5B5F"/>
                </a:solidFill>
                <a:latin typeface="Calibri"/>
              </a:rPr>
              <a:t>no-shows with an SMS</a:t>
            </a:r>
          </a:p>
        </p:txBody>
      </p:sp>
      <p:sp>
        <p:nvSpPr>
          <p:cNvPr id="8" name="TextBox 7"/>
          <p:cNvSpPr txBox="1"/>
          <p:nvPr/>
        </p:nvSpPr>
        <p:spPr>
          <a:xfrm>
            <a:off x="822960" y="3749039"/>
            <a:ext cx="2743200" cy="609600"/>
          </a:xfrm>
          <a:prstGeom prst="rect">
            <a:avLst/>
          </a:prstGeom>
          <a:noFill/>
        </p:spPr>
        <p:txBody>
          <a:bodyPr wrap="square" lIns="0" rIns="0" tIns="0" bIns="0" anchor="t">
            <a:spAutoFit/>
          </a:bodyPr>
          <a:lstStyle/>
          <a:p>
            <a:pPr algn="l"/>
            <a:r>
              <a:rPr sz="4000" b="1" i="0">
                <a:solidFill>
                  <a:srgbClr val="9AA5A8"/>
                </a:solidFill>
                <a:latin typeface="Cambria"/>
              </a:rPr>
              <a:t>16.7%</a:t>
            </a:r>
          </a:p>
        </p:txBody>
      </p:sp>
      <p:sp>
        <p:nvSpPr>
          <p:cNvPr id="9" name="TextBox 8"/>
          <p:cNvSpPr txBox="1"/>
          <p:nvPr/>
        </p:nvSpPr>
        <p:spPr>
          <a:xfrm>
            <a:off x="822960" y="4404360"/>
            <a:ext cx="2743200" cy="731520"/>
          </a:xfrm>
          <a:prstGeom prst="rect">
            <a:avLst/>
          </a:prstGeom>
          <a:noFill/>
        </p:spPr>
        <p:txBody>
          <a:bodyPr wrap="square" lIns="0" rIns="0" tIns="0" bIns="0" anchor="t">
            <a:spAutoFit/>
          </a:bodyPr>
          <a:lstStyle/>
          <a:p>
            <a:pPr algn="l"/>
            <a:r>
              <a:rPr sz="1300" b="0" i="0">
                <a:solidFill>
                  <a:srgbClr val="4B5B5F"/>
                </a:solidFill>
                <a:latin typeface="Calibri"/>
              </a:rPr>
              <a:t>without an SMS</a:t>
            </a:r>
          </a:p>
        </p:txBody>
      </p:sp>
      <p:sp>
        <p:nvSpPr>
          <p:cNvPr id="10" name="TextBox 9"/>
          <p:cNvSpPr txBox="1"/>
          <p:nvPr/>
        </p:nvSpPr>
        <p:spPr>
          <a:xfrm>
            <a:off x="822960" y="5074920"/>
            <a:ext cx="2743200" cy="914400"/>
          </a:xfrm>
          <a:prstGeom prst="rect">
            <a:avLst/>
          </a:prstGeom>
          <a:noFill/>
        </p:spPr>
        <p:txBody>
          <a:bodyPr wrap="square" lIns="0" rIns="0" tIns="0" bIns="0" anchor="t">
            <a:spAutoFit/>
          </a:bodyPr>
          <a:lstStyle/>
          <a:p>
            <a:pPr algn="l"/>
            <a:r>
              <a:rPr sz="1300" b="0" i="1">
                <a:solidFill>
                  <a:srgbClr val="4B5B5F"/>
                </a:solidFill>
                <a:latin typeface="Calibri"/>
              </a:rPr>
              <a:t>SMS was only sent when booked 3+ days ahead: a confounder</a:t>
            </a:r>
          </a:p>
        </p:txBody>
      </p:sp>
      <p:graphicFrame>
        <p:nvGraphicFramePr>
          <p:cNvPr id="11" name="Chart 10"/>
          <p:cNvGraphicFramePr>
            <a:graphicFrameLocks noGrp="1"/>
          </p:cNvGraphicFramePr>
          <p:nvPr/>
        </p:nvGraphicFramePr>
        <p:xfrm>
          <a:off x="4114800" y="1600200"/>
          <a:ext cx="7498079" cy="3977639"/>
        </p:xfrm>
        <a:graphic>
          <a:graphicData uri="http://schemas.openxmlformats.org/drawingml/2006/chart">
            <c:chart xmlns:c="http://schemas.openxmlformats.org/drawingml/2006/chart" r:id="rId2"/>
          </a:graphicData>
        </a:graphic>
      </p:graphicFrame>
      <p:sp>
        <p:nvSpPr>
          <p:cNvPr id="12" name="TextBox 11"/>
          <p:cNvSpPr txBox="1"/>
          <p:nvPr/>
        </p:nvSpPr>
        <p:spPr>
          <a:xfrm>
            <a:off x="4114800" y="5669280"/>
            <a:ext cx="7498079" cy="457200"/>
          </a:xfrm>
          <a:prstGeom prst="rect">
            <a:avLst/>
          </a:prstGeom>
          <a:noFill/>
        </p:spPr>
        <p:txBody>
          <a:bodyPr wrap="square" lIns="0" rIns="0" tIns="0" bIns="0" anchor="t">
            <a:spAutoFit/>
          </a:bodyPr>
          <a:lstStyle/>
          <a:p>
            <a:pPr algn="l"/>
            <a:r>
              <a:rPr sz="1400" b="1" i="0">
                <a:solidFill>
                  <a:srgbClr val="1C2A2E"/>
                </a:solidFill>
                <a:latin typeface="Calibri"/>
              </a:rPr>
              <a:t>Same lead time: SMS is linked to 3–8 points FEWER no-shows. SMS status is also unknown at booking time, so it is excluded.</a:t>
            </a:r>
          </a:p>
        </p:txBody>
      </p:sp>
      <p:sp>
        <p:nvSpPr>
          <p:cNvPr id="13" name="TextBox 1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6</a:t>
            </a:r>
          </a:p>
        </p:txBody>
      </p:sp>
      <p:sp>
        <p:nvSpPr>
          <p:cNvPr id="14" name="TextBox 13"/>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Pipeline and leakage prevention</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One shared pipeline for training and prediction</a:t>
            </a:r>
          </a:p>
        </p:txBody>
      </p:sp>
      <p:sp>
        <p:nvSpPr>
          <p:cNvPr id="4" name="Rounded Rectangle 3"/>
          <p:cNvSpPr/>
          <p:nvPr/>
        </p:nvSpPr>
        <p:spPr>
          <a:xfrm>
            <a:off x="548640" y="1691640"/>
            <a:ext cx="1371600" cy="868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371600" cy="868680"/>
          </a:xfrm>
          <a:prstGeom prst="rect">
            <a:avLst/>
          </a:prstGeom>
          <a:noFill/>
        </p:spPr>
        <p:txBody>
          <a:bodyPr wrap="square" lIns="0" rIns="0" tIns="0" bIns="0" anchor="ctr">
            <a:spAutoFit/>
          </a:bodyPr>
          <a:lstStyle/>
          <a:p>
            <a:pPr algn="ctr"/>
            <a:r>
              <a:rPr sz="1400" b="1" i="0">
                <a:solidFill>
                  <a:srgbClr val="0B3C49"/>
                </a:solidFill>
                <a:latin typeface="Calibri"/>
              </a:rPr>
              <a:t>validate</a:t>
            </a:r>
          </a:p>
        </p:txBody>
      </p:sp>
      <p:sp>
        <p:nvSpPr>
          <p:cNvPr id="6" name="TextBox 5"/>
          <p:cNvSpPr txBox="1"/>
          <p:nvPr/>
        </p:nvSpPr>
        <p:spPr>
          <a:xfrm>
            <a:off x="1920240" y="1783080"/>
            <a:ext cx="256032" cy="685800"/>
          </a:xfrm>
          <a:prstGeom prst="rect">
            <a:avLst/>
          </a:prstGeom>
          <a:noFill/>
        </p:spPr>
        <p:txBody>
          <a:bodyPr wrap="square" lIns="0" rIns="0" tIns="0" bIns="0" anchor="ctr">
            <a:spAutoFit/>
          </a:bodyPr>
          <a:lstStyle/>
          <a:p>
            <a:pPr algn="ctr"/>
            <a:r>
              <a:rPr sz="2800" b="0" i="0">
                <a:solidFill>
                  <a:srgbClr val="9AA5A8"/>
                </a:solidFill>
                <a:latin typeface="Calibri"/>
              </a:rPr>
              <a:t>›</a:t>
            </a:r>
          </a:p>
        </p:txBody>
      </p:sp>
      <p:sp>
        <p:nvSpPr>
          <p:cNvPr id="7" name="Rounded Rectangle 6"/>
          <p:cNvSpPr/>
          <p:nvPr/>
        </p:nvSpPr>
        <p:spPr>
          <a:xfrm>
            <a:off x="2176272" y="1691640"/>
            <a:ext cx="1371600" cy="868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76272" y="1691640"/>
            <a:ext cx="1371600" cy="868680"/>
          </a:xfrm>
          <a:prstGeom prst="rect">
            <a:avLst/>
          </a:prstGeom>
          <a:noFill/>
        </p:spPr>
        <p:txBody>
          <a:bodyPr wrap="square" lIns="0" rIns="0" tIns="0" bIns="0" anchor="ctr">
            <a:spAutoFit/>
          </a:bodyPr>
          <a:lstStyle/>
          <a:p>
            <a:pPr algn="ctr"/>
            <a:r>
              <a:rPr sz="1400" b="1" i="0">
                <a:solidFill>
                  <a:srgbClr val="0B3C49"/>
                </a:solidFill>
                <a:latin typeface="Calibri"/>
              </a:rPr>
              <a:t>clean</a:t>
            </a:r>
          </a:p>
        </p:txBody>
      </p:sp>
      <p:sp>
        <p:nvSpPr>
          <p:cNvPr id="9" name="TextBox 8"/>
          <p:cNvSpPr txBox="1"/>
          <p:nvPr/>
        </p:nvSpPr>
        <p:spPr>
          <a:xfrm>
            <a:off x="3547872" y="1783080"/>
            <a:ext cx="256032" cy="685800"/>
          </a:xfrm>
          <a:prstGeom prst="rect">
            <a:avLst/>
          </a:prstGeom>
          <a:noFill/>
        </p:spPr>
        <p:txBody>
          <a:bodyPr wrap="square" lIns="0" rIns="0" tIns="0" bIns="0" anchor="ctr">
            <a:spAutoFit/>
          </a:bodyPr>
          <a:lstStyle/>
          <a:p>
            <a:pPr algn="ctr"/>
            <a:r>
              <a:rPr sz="2800" b="0" i="0">
                <a:solidFill>
                  <a:srgbClr val="9AA5A8"/>
                </a:solidFill>
                <a:latin typeface="Calibri"/>
              </a:rPr>
              <a:t>›</a:t>
            </a:r>
          </a:p>
        </p:txBody>
      </p:sp>
      <p:sp>
        <p:nvSpPr>
          <p:cNvPr id="10" name="Rounded Rectangle 9"/>
          <p:cNvSpPr/>
          <p:nvPr/>
        </p:nvSpPr>
        <p:spPr>
          <a:xfrm>
            <a:off x="3803904" y="1691640"/>
            <a:ext cx="1371600" cy="868680"/>
          </a:xfrm>
          <a:prstGeom prst="roundRect">
            <a:avLst>
              <a:gd name="adj" fmla="val 6000"/>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03904" y="1691640"/>
            <a:ext cx="1371600" cy="868680"/>
          </a:xfrm>
          <a:prstGeom prst="rect">
            <a:avLst/>
          </a:prstGeom>
          <a:noFill/>
        </p:spPr>
        <p:txBody>
          <a:bodyPr wrap="square" lIns="0" rIns="0" tIns="0" bIns="0" anchor="ctr">
            <a:spAutoFit/>
          </a:bodyPr>
          <a:lstStyle/>
          <a:p>
            <a:pPr algn="ctr"/>
            <a:r>
              <a:rPr sz="1400" b="1" i="0">
                <a:solidFill>
                  <a:srgbClr val="FFFFFF"/>
                </a:solidFill>
                <a:latin typeface="Calibri"/>
              </a:rPr>
              <a:t>patient
history</a:t>
            </a:r>
          </a:p>
        </p:txBody>
      </p:sp>
      <p:sp>
        <p:nvSpPr>
          <p:cNvPr id="12" name="TextBox 11"/>
          <p:cNvSpPr txBox="1"/>
          <p:nvPr/>
        </p:nvSpPr>
        <p:spPr>
          <a:xfrm>
            <a:off x="5175504" y="1783080"/>
            <a:ext cx="256032" cy="685800"/>
          </a:xfrm>
          <a:prstGeom prst="rect">
            <a:avLst/>
          </a:prstGeom>
          <a:noFill/>
        </p:spPr>
        <p:txBody>
          <a:bodyPr wrap="square" lIns="0" rIns="0" tIns="0" bIns="0" anchor="ctr">
            <a:spAutoFit/>
          </a:bodyPr>
          <a:lstStyle/>
          <a:p>
            <a:pPr algn="ctr"/>
            <a:r>
              <a:rPr sz="2800" b="0" i="0">
                <a:solidFill>
                  <a:srgbClr val="9AA5A8"/>
                </a:solidFill>
                <a:latin typeface="Calibri"/>
              </a:rPr>
              <a:t>›</a:t>
            </a:r>
          </a:p>
        </p:txBody>
      </p:sp>
      <p:sp>
        <p:nvSpPr>
          <p:cNvPr id="13" name="Rounded Rectangle 12"/>
          <p:cNvSpPr/>
          <p:nvPr/>
        </p:nvSpPr>
        <p:spPr>
          <a:xfrm>
            <a:off x="5431536" y="1691640"/>
            <a:ext cx="1371600" cy="868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31536" y="1691640"/>
            <a:ext cx="1371600" cy="868680"/>
          </a:xfrm>
          <a:prstGeom prst="rect">
            <a:avLst/>
          </a:prstGeom>
          <a:noFill/>
        </p:spPr>
        <p:txBody>
          <a:bodyPr wrap="square" lIns="0" rIns="0" tIns="0" bIns="0" anchor="ctr">
            <a:spAutoFit/>
          </a:bodyPr>
          <a:lstStyle/>
          <a:p>
            <a:pPr algn="ctr"/>
            <a:r>
              <a:rPr sz="1400" b="1" i="0">
                <a:solidFill>
                  <a:srgbClr val="0B3C49"/>
                </a:solidFill>
                <a:latin typeface="Calibri"/>
              </a:rPr>
              <a:t>features</a:t>
            </a:r>
          </a:p>
        </p:txBody>
      </p:sp>
      <p:sp>
        <p:nvSpPr>
          <p:cNvPr id="15" name="TextBox 14"/>
          <p:cNvSpPr txBox="1"/>
          <p:nvPr/>
        </p:nvSpPr>
        <p:spPr>
          <a:xfrm>
            <a:off x="6803136" y="1783080"/>
            <a:ext cx="256032" cy="685800"/>
          </a:xfrm>
          <a:prstGeom prst="rect">
            <a:avLst/>
          </a:prstGeom>
          <a:noFill/>
        </p:spPr>
        <p:txBody>
          <a:bodyPr wrap="square" lIns="0" rIns="0" tIns="0" bIns="0" anchor="ctr">
            <a:spAutoFit/>
          </a:bodyPr>
          <a:lstStyle/>
          <a:p>
            <a:pPr algn="ctr"/>
            <a:r>
              <a:rPr sz="2800" b="0" i="0">
                <a:solidFill>
                  <a:srgbClr val="9AA5A8"/>
                </a:solidFill>
                <a:latin typeface="Calibri"/>
              </a:rPr>
              <a:t>›</a:t>
            </a:r>
          </a:p>
        </p:txBody>
      </p:sp>
      <p:sp>
        <p:nvSpPr>
          <p:cNvPr id="16" name="Rounded Rectangle 15"/>
          <p:cNvSpPr/>
          <p:nvPr/>
        </p:nvSpPr>
        <p:spPr>
          <a:xfrm>
            <a:off x="7059168" y="1691640"/>
            <a:ext cx="1371600" cy="868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9168" y="1691640"/>
            <a:ext cx="1371600" cy="868680"/>
          </a:xfrm>
          <a:prstGeom prst="rect">
            <a:avLst/>
          </a:prstGeom>
          <a:noFill/>
        </p:spPr>
        <p:txBody>
          <a:bodyPr wrap="square" lIns="0" rIns="0" tIns="0" bIns="0" anchor="ctr">
            <a:spAutoFit/>
          </a:bodyPr>
          <a:lstStyle/>
          <a:p>
            <a:pPr algn="ctr"/>
            <a:r>
              <a:rPr sz="1400" b="1" i="0">
                <a:solidFill>
                  <a:srgbClr val="0B3C49"/>
                </a:solidFill>
                <a:latin typeface="Calibri"/>
              </a:rPr>
              <a:t>encode</a:t>
            </a:r>
          </a:p>
        </p:txBody>
      </p:sp>
      <p:sp>
        <p:nvSpPr>
          <p:cNvPr id="18" name="TextBox 17"/>
          <p:cNvSpPr txBox="1"/>
          <p:nvPr/>
        </p:nvSpPr>
        <p:spPr>
          <a:xfrm>
            <a:off x="8430767" y="1783080"/>
            <a:ext cx="256032" cy="685800"/>
          </a:xfrm>
          <a:prstGeom prst="rect">
            <a:avLst/>
          </a:prstGeom>
          <a:noFill/>
        </p:spPr>
        <p:txBody>
          <a:bodyPr wrap="square" lIns="0" rIns="0" tIns="0" bIns="0" anchor="ctr">
            <a:spAutoFit/>
          </a:bodyPr>
          <a:lstStyle/>
          <a:p>
            <a:pPr algn="ctr"/>
            <a:r>
              <a:rPr sz="2800" b="0" i="0">
                <a:solidFill>
                  <a:srgbClr val="9AA5A8"/>
                </a:solidFill>
                <a:latin typeface="Calibri"/>
              </a:rPr>
              <a:t>›</a:t>
            </a:r>
          </a:p>
        </p:txBody>
      </p:sp>
      <p:sp>
        <p:nvSpPr>
          <p:cNvPr id="19" name="Rounded Rectangle 18"/>
          <p:cNvSpPr/>
          <p:nvPr/>
        </p:nvSpPr>
        <p:spPr>
          <a:xfrm>
            <a:off x="8686800" y="1691640"/>
            <a:ext cx="1371600" cy="868680"/>
          </a:xfrm>
          <a:prstGeom prst="roundRect">
            <a:avLst>
              <a:gd name="adj" fmla="val 6000"/>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0" y="1691640"/>
            <a:ext cx="1371600" cy="868680"/>
          </a:xfrm>
          <a:prstGeom prst="rect">
            <a:avLst/>
          </a:prstGeom>
          <a:noFill/>
        </p:spPr>
        <p:txBody>
          <a:bodyPr wrap="square" lIns="0" rIns="0" tIns="0" bIns="0" anchor="ctr">
            <a:spAutoFit/>
          </a:bodyPr>
          <a:lstStyle/>
          <a:p>
            <a:pPr algn="ctr"/>
            <a:r>
              <a:rPr sz="1400" b="1" i="0">
                <a:solidFill>
                  <a:srgbClr val="FFFFFF"/>
                </a:solidFill>
                <a:latin typeface="Calibri"/>
              </a:rPr>
              <a:t>model</a:t>
            </a:r>
          </a:p>
        </p:txBody>
      </p:sp>
      <p:sp>
        <p:nvSpPr>
          <p:cNvPr id="21" name="TextBox 20"/>
          <p:cNvSpPr txBox="1"/>
          <p:nvPr/>
        </p:nvSpPr>
        <p:spPr>
          <a:xfrm>
            <a:off x="10058400" y="1783080"/>
            <a:ext cx="256032" cy="685800"/>
          </a:xfrm>
          <a:prstGeom prst="rect">
            <a:avLst/>
          </a:prstGeom>
          <a:noFill/>
        </p:spPr>
        <p:txBody>
          <a:bodyPr wrap="square" lIns="0" rIns="0" tIns="0" bIns="0" anchor="ctr">
            <a:spAutoFit/>
          </a:bodyPr>
          <a:lstStyle/>
          <a:p>
            <a:pPr algn="ctr"/>
            <a:r>
              <a:rPr sz="2800" b="0" i="0">
                <a:solidFill>
                  <a:srgbClr val="9AA5A8"/>
                </a:solidFill>
                <a:latin typeface="Calibri"/>
              </a:rPr>
              <a:t>›</a:t>
            </a:r>
          </a:p>
        </p:txBody>
      </p:sp>
      <p:sp>
        <p:nvSpPr>
          <p:cNvPr id="22" name="Rounded Rectangle 21"/>
          <p:cNvSpPr/>
          <p:nvPr/>
        </p:nvSpPr>
        <p:spPr>
          <a:xfrm>
            <a:off x="10314432" y="1691640"/>
            <a:ext cx="1371600" cy="86868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4432" y="1691640"/>
            <a:ext cx="1371600" cy="868680"/>
          </a:xfrm>
          <a:prstGeom prst="rect">
            <a:avLst/>
          </a:prstGeom>
          <a:noFill/>
        </p:spPr>
        <p:txBody>
          <a:bodyPr wrap="square" lIns="0" rIns="0" tIns="0" bIns="0" anchor="ctr">
            <a:spAutoFit/>
          </a:bodyPr>
          <a:lstStyle/>
          <a:p>
            <a:pPr algn="ctr"/>
            <a:r>
              <a:rPr sz="1400" b="1" i="0">
                <a:solidFill>
                  <a:srgbClr val="0B3C49"/>
                </a:solidFill>
                <a:latin typeface="Calibri"/>
              </a:rPr>
              <a:t>band +
factors</a:t>
            </a:r>
          </a:p>
        </p:txBody>
      </p:sp>
      <p:sp>
        <p:nvSpPr>
          <p:cNvPr id="24" name="TextBox 23"/>
          <p:cNvSpPr txBox="1"/>
          <p:nvPr/>
        </p:nvSpPr>
        <p:spPr>
          <a:xfrm>
            <a:off x="548640" y="2880360"/>
            <a:ext cx="5486400" cy="411480"/>
          </a:xfrm>
          <a:prstGeom prst="rect">
            <a:avLst/>
          </a:prstGeom>
          <a:noFill/>
        </p:spPr>
        <p:txBody>
          <a:bodyPr wrap="square" lIns="0" rIns="0" tIns="0" bIns="0" anchor="t">
            <a:spAutoFit/>
          </a:bodyPr>
          <a:lstStyle/>
          <a:p>
            <a:pPr algn="l"/>
            <a:r>
              <a:rPr sz="2000" b="1" i="0">
                <a:solidFill>
                  <a:srgbClr val="0B3C49"/>
                </a:solidFill>
                <a:latin typeface="Cambria"/>
              </a:rPr>
              <a:t>Split by time, not at random</a:t>
            </a:r>
          </a:p>
        </p:txBody>
      </p:sp>
      <p:sp>
        <p:nvSpPr>
          <p:cNvPr id="25" name="Rounded Rectangle 24"/>
          <p:cNvSpPr/>
          <p:nvPr/>
        </p:nvSpPr>
        <p:spPr>
          <a:xfrm>
            <a:off x="548640" y="3429000"/>
            <a:ext cx="3487155" cy="411480"/>
          </a:xfrm>
          <a:prstGeom prst="roundRect">
            <a:avLst>
              <a:gd name="adj" fmla="val 30000"/>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2955" y="3483864"/>
            <a:ext cx="3657600" cy="320040"/>
          </a:xfrm>
          <a:prstGeom prst="rect">
            <a:avLst/>
          </a:prstGeom>
          <a:noFill/>
        </p:spPr>
        <p:txBody>
          <a:bodyPr wrap="square" lIns="0" rIns="0" tIns="0" bIns="0" anchor="t">
            <a:spAutoFit/>
          </a:bodyPr>
          <a:lstStyle/>
          <a:p>
            <a:pPr algn="l"/>
            <a:r>
              <a:rPr sz="1300" b="1" i="0">
                <a:solidFill>
                  <a:srgbClr val="1C2A2E"/>
                </a:solidFill>
                <a:latin typeface="Calibri"/>
              </a:rPr>
              <a:t>Train </a:t>
            </a:r>
            <a:r>
              <a:rPr sz="1300" b="0" i="0">
                <a:solidFill>
                  <a:srgbClr val="4B5B5F"/>
                </a:solidFill>
                <a:latin typeface="Calibri"/>
              </a:rPr>
              <a:t>Apr 29 – May 25 · 75,278</a:t>
            </a:r>
          </a:p>
        </p:txBody>
      </p:sp>
      <p:sp>
        <p:nvSpPr>
          <p:cNvPr id="27" name="Rounded Rectangle 26"/>
          <p:cNvSpPr/>
          <p:nvPr/>
        </p:nvSpPr>
        <p:spPr>
          <a:xfrm>
            <a:off x="548640" y="3995928"/>
            <a:ext cx="814181" cy="411480"/>
          </a:xfrm>
          <a:prstGeom prst="roundRect">
            <a:avLst>
              <a:gd name="adj" fmla="val 30000"/>
            </a:avLst>
          </a:prstGeom>
          <a:solidFill>
            <a:srgbClr val="5FA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99981" y="4050791"/>
            <a:ext cx="3657600" cy="320040"/>
          </a:xfrm>
          <a:prstGeom prst="rect">
            <a:avLst/>
          </a:prstGeom>
          <a:noFill/>
        </p:spPr>
        <p:txBody>
          <a:bodyPr wrap="square" lIns="0" rIns="0" tIns="0" bIns="0" anchor="t">
            <a:spAutoFit/>
          </a:bodyPr>
          <a:lstStyle/>
          <a:p>
            <a:pPr algn="l"/>
            <a:r>
              <a:rPr sz="1300" b="1" i="0">
                <a:solidFill>
                  <a:srgbClr val="1C2A2E"/>
                </a:solidFill>
                <a:latin typeface="Calibri"/>
              </a:rPr>
              <a:t>Validation </a:t>
            </a:r>
            <a:r>
              <a:rPr sz="1300" b="0" i="0">
                <a:solidFill>
                  <a:srgbClr val="4B5B5F"/>
                </a:solidFill>
                <a:latin typeface="Calibri"/>
              </a:rPr>
              <a:t>May 30 – Jun 2 · 17,567</a:t>
            </a:r>
          </a:p>
        </p:txBody>
      </p:sp>
      <p:sp>
        <p:nvSpPr>
          <p:cNvPr id="29" name="Rounded Rectangle 28"/>
          <p:cNvSpPr/>
          <p:nvPr/>
        </p:nvSpPr>
        <p:spPr>
          <a:xfrm>
            <a:off x="548640" y="4562856"/>
            <a:ext cx="819302" cy="411480"/>
          </a:xfrm>
          <a:prstGeom prst="roundRect">
            <a:avLst>
              <a:gd name="adj" fmla="val 30000"/>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5102" y="4617720"/>
            <a:ext cx="3657600" cy="320040"/>
          </a:xfrm>
          <a:prstGeom prst="rect">
            <a:avLst/>
          </a:prstGeom>
          <a:noFill/>
        </p:spPr>
        <p:txBody>
          <a:bodyPr wrap="square" lIns="0" rIns="0" tIns="0" bIns="0" anchor="t">
            <a:spAutoFit/>
          </a:bodyPr>
          <a:lstStyle/>
          <a:p>
            <a:pPr algn="l"/>
            <a:r>
              <a:rPr sz="1300" b="1" i="0">
                <a:solidFill>
                  <a:srgbClr val="1C2A2E"/>
                </a:solidFill>
                <a:latin typeface="Calibri"/>
              </a:rPr>
              <a:t>Test </a:t>
            </a:r>
            <a:r>
              <a:rPr sz="1300" b="0" i="0">
                <a:solidFill>
                  <a:srgbClr val="4B5B5F"/>
                </a:solidFill>
                <a:latin typeface="Calibri"/>
              </a:rPr>
              <a:t>Jun 3 – Jun 8 · 17,676</a:t>
            </a:r>
          </a:p>
        </p:txBody>
      </p:sp>
      <p:sp>
        <p:nvSpPr>
          <p:cNvPr id="31" name="TextBox 30"/>
          <p:cNvSpPr txBox="1"/>
          <p:nvPr/>
        </p:nvSpPr>
        <p:spPr>
          <a:xfrm>
            <a:off x="548640" y="5212080"/>
            <a:ext cx="5486400" cy="1005840"/>
          </a:xfrm>
          <a:prstGeom prst="rect">
            <a:avLst/>
          </a:prstGeom>
          <a:noFill/>
        </p:spPr>
        <p:txBody>
          <a:bodyPr wrap="square" lIns="0" rIns="0" tIns="0" bIns="0" anchor="t">
            <a:spAutoFit/>
          </a:bodyPr>
          <a:lstStyle/>
          <a:p>
            <a:pPr algn="l"/>
            <a:r>
              <a:rPr sz="1400" b="0" i="0">
                <a:solidFill>
                  <a:srgbClr val="4B5B5F"/>
                </a:solidFill>
                <a:latin typeface="Calibri"/>
              </a:rPr>
              <a:t>The model always predicts future appointments from past ones, so it is tested the same way.</a:t>
            </a:r>
          </a:p>
        </p:txBody>
      </p:sp>
      <p:sp>
        <p:nvSpPr>
          <p:cNvPr id="32" name="Rounded Rectangle 31"/>
          <p:cNvSpPr/>
          <p:nvPr/>
        </p:nvSpPr>
        <p:spPr>
          <a:xfrm>
            <a:off x="6400800" y="2880360"/>
            <a:ext cx="5212080" cy="278892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75120" y="3108960"/>
            <a:ext cx="457200" cy="457200"/>
          </a:xfrm>
          <a:prstGeom prst="ellipse">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34" name="TextBox 33"/>
          <p:cNvSpPr txBox="1"/>
          <p:nvPr/>
        </p:nvSpPr>
        <p:spPr>
          <a:xfrm>
            <a:off x="7269480" y="3136392"/>
            <a:ext cx="4114800" cy="457200"/>
          </a:xfrm>
          <a:prstGeom prst="rect">
            <a:avLst/>
          </a:prstGeom>
          <a:noFill/>
        </p:spPr>
        <p:txBody>
          <a:bodyPr wrap="square" lIns="0" rIns="0" tIns="0" bIns="0" anchor="t">
            <a:spAutoFit/>
          </a:bodyPr>
          <a:lstStyle/>
          <a:p>
            <a:pPr algn="l"/>
            <a:r>
              <a:rPr sz="1900" b="1" i="0">
                <a:solidFill>
                  <a:srgbClr val="0B3C49"/>
                </a:solidFill>
                <a:latin typeface="Cambria"/>
              </a:rPr>
              <a:t>The leakage trap</a:t>
            </a:r>
          </a:p>
        </p:txBody>
      </p:sp>
      <p:sp>
        <p:nvSpPr>
          <p:cNvPr id="35" name="TextBox 34"/>
          <p:cNvSpPr txBox="1"/>
          <p:nvPr/>
        </p:nvSpPr>
        <p:spPr>
          <a:xfrm>
            <a:off x="6675120" y="3703320"/>
            <a:ext cx="4663440" cy="2377440"/>
          </a:xfrm>
          <a:prstGeom prst="rect">
            <a:avLst/>
          </a:prstGeom>
          <a:noFill/>
        </p:spPr>
        <p:txBody>
          <a:bodyPr wrap="square" lIns="0" rIns="0" tIns="0" bIns="0" anchor="t">
            <a:spAutoFit/>
          </a:bodyPr>
          <a:lstStyle/>
          <a:p>
            <a:pPr algn="l">
              <a:spcAft>
                <a:spcPts val="800"/>
              </a:spcAft>
            </a:pPr>
            <a:r>
              <a:rPr sz="1400" b="0" i="0">
                <a:solidFill>
                  <a:srgbClr val="1C2A2E"/>
                </a:solidFill>
                <a:latin typeface="Calibri"/>
              </a:rPr>
              <a:t>A patient's past no-shows are a useful feature, but only if they were known at booking time.</a:t>
            </a:r>
          </a:p>
          <a:p>
            <a:pPr algn="l">
              <a:spcAft>
                <a:spcPts val="800"/>
              </a:spcAft>
            </a:pPr>
            <a:r>
              <a:rPr sz="1400" b="1" i="0">
                <a:solidFill>
                  <a:srgbClr val="1C2A2E"/>
                </a:solidFill>
                <a:latin typeface="Calibri"/>
              </a:rPr>
              <a:t>Rule: </a:t>
            </a:r>
            <a:r>
              <a:rPr sz="1400" b="0" i="0">
                <a:solidFill>
                  <a:srgbClr val="1C2A2E"/>
                </a:solidFill>
                <a:latin typeface="Calibri"/>
              </a:rPr>
              <a:t>count only appointments dated strictly before the booking day.</a:t>
            </a:r>
          </a:p>
          <a:p>
            <a:pPr algn="l">
              <a:spcAft>
                <a:spcPts val="800"/>
              </a:spcAft>
            </a:pPr>
            <a:r>
              <a:rPr sz="1400" b="1" i="0">
                <a:solidFill>
                  <a:srgbClr val="1C2A2E"/>
                </a:solidFill>
                <a:latin typeface="Calibri"/>
              </a:rPr>
              <a:t>Proof: </a:t>
            </a:r>
            <a:r>
              <a:rPr sz="1400" b="0" i="0">
                <a:solidFill>
                  <a:srgbClr val="1C2A2E"/>
                </a:solidFill>
                <a:latin typeface="Calibri"/>
              </a:rPr>
              <a:t>automated tests compare with a brute-force count, and a deliberately planted leak makes them fail.</a:t>
            </a:r>
          </a:p>
        </p:txBody>
      </p:sp>
      <p:sp>
        <p:nvSpPr>
          <p:cNvPr id="36" name="TextBox 35"/>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7</a:t>
            </a:r>
          </a:p>
        </p:txBody>
      </p:sp>
      <p:sp>
        <p:nvSpPr>
          <p:cNvPr id="37" name="TextBox 36"/>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23 experiments, 3 model families</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Validation ROC-AUC of the best setting per approach (0.5 = random)</a:t>
            </a:r>
          </a:p>
        </p:txBody>
      </p:sp>
      <p:graphicFrame>
        <p:nvGraphicFramePr>
          <p:cNvPr id="4" name="Chart 3"/>
          <p:cNvGraphicFramePr>
            <a:graphicFrameLocks noGrp="1"/>
          </p:cNvGraphicFramePr>
          <p:nvPr/>
        </p:nvGraphicFramePr>
        <p:xfrm>
          <a:off x="548640" y="1600200"/>
          <a:ext cx="6766560" cy="4526280"/>
        </p:xfrm>
        <a:graphic>
          <a:graphicData uri="http://schemas.openxmlformats.org/drawingml/2006/chart">
            <c:chart xmlns:c="http://schemas.openxmlformats.org/drawingml/2006/chart" r:id="rId2"/>
          </a:graphicData>
        </a:graphic>
      </p:graphicFrame>
      <p:sp>
        <p:nvSpPr>
          <p:cNvPr id="5" name="Rounded Rectangle 4"/>
          <p:cNvSpPr/>
          <p:nvPr/>
        </p:nvSpPr>
        <p:spPr>
          <a:xfrm>
            <a:off x="7680960" y="1737360"/>
            <a:ext cx="3931920" cy="128016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1874519"/>
            <a:ext cx="3566160" cy="1097280"/>
          </a:xfrm>
          <a:prstGeom prst="rect">
            <a:avLst/>
          </a:prstGeom>
          <a:noFill/>
        </p:spPr>
        <p:txBody>
          <a:bodyPr wrap="square" lIns="0" rIns="0" tIns="0" bIns="0" anchor="t">
            <a:spAutoFit/>
          </a:bodyPr>
          <a:lstStyle/>
          <a:p>
            <a:pPr algn="l">
              <a:spcAft>
                <a:spcPts val="300"/>
              </a:spcAft>
            </a:pPr>
            <a:r>
              <a:rPr sz="1600" b="1" i="0">
                <a:solidFill>
                  <a:srgbClr val="0B3C49"/>
                </a:solidFill>
                <a:latin typeface="Calibri"/>
              </a:rPr>
              <a:t>Is the best really better?</a:t>
            </a:r>
          </a:p>
          <a:p>
            <a:pPr algn="l">
              <a:spcAft>
                <a:spcPts val="300"/>
              </a:spcAft>
            </a:pPr>
            <a:r>
              <a:rPr sz="1300" b="0" i="0">
                <a:solidFill>
                  <a:srgbClr val="4B5B5F"/>
                </a:solidFill>
                <a:latin typeface="Calibri"/>
              </a:rPr>
              <a:t>Paired bootstrap, 1,000 resamples: every gap to logistic regression is within noise</a:t>
            </a:r>
          </a:p>
        </p:txBody>
      </p:sp>
      <p:sp>
        <p:nvSpPr>
          <p:cNvPr id="7" name="Rounded Rectangle 6"/>
          <p:cNvSpPr/>
          <p:nvPr/>
        </p:nvSpPr>
        <p:spPr>
          <a:xfrm>
            <a:off x="7680960" y="3200400"/>
            <a:ext cx="3931920" cy="128016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3337560"/>
            <a:ext cx="3566160" cy="1097280"/>
          </a:xfrm>
          <a:prstGeom prst="rect">
            <a:avLst/>
          </a:prstGeom>
          <a:noFill/>
        </p:spPr>
        <p:txBody>
          <a:bodyPr wrap="square" lIns="0" rIns="0" tIns="0" bIns="0" anchor="t">
            <a:spAutoFit/>
          </a:bodyPr>
          <a:lstStyle/>
          <a:p>
            <a:pPr algn="l">
              <a:spcAft>
                <a:spcPts val="300"/>
              </a:spcAft>
            </a:pPr>
            <a:r>
              <a:rPr sz="1600" b="1" i="0">
                <a:solidFill>
                  <a:srgbClr val="0B3C49"/>
                </a:solidFill>
                <a:latin typeface="Calibri"/>
              </a:rPr>
              <a:t>Overfitting is visible</a:t>
            </a:r>
          </a:p>
          <a:p>
            <a:pPr algn="l">
              <a:spcAft>
                <a:spcPts val="300"/>
              </a:spcAft>
            </a:pPr>
            <a:r>
              <a:rPr sz="1300" b="0" i="0">
                <a:solidFill>
                  <a:srgbClr val="4B5B5F"/>
                </a:solidFill>
                <a:latin typeface="Calibri"/>
              </a:rPr>
              <a:t>Fully grown random forest: 0.999 on training data, 0.700 on validation. Limiting leaf size fixed it</a:t>
            </a:r>
          </a:p>
        </p:txBody>
      </p:sp>
      <p:sp>
        <p:nvSpPr>
          <p:cNvPr id="9" name="Rounded Rectangle 8"/>
          <p:cNvSpPr/>
          <p:nvPr/>
        </p:nvSpPr>
        <p:spPr>
          <a:xfrm>
            <a:off x="7680960" y="4663440"/>
            <a:ext cx="3931920" cy="128016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4800600"/>
            <a:ext cx="3566160" cy="1097280"/>
          </a:xfrm>
          <a:prstGeom prst="rect">
            <a:avLst/>
          </a:prstGeom>
          <a:noFill/>
        </p:spPr>
        <p:txBody>
          <a:bodyPr wrap="square" lIns="0" rIns="0" tIns="0" bIns="0" anchor="t">
            <a:spAutoFit/>
          </a:bodyPr>
          <a:lstStyle/>
          <a:p>
            <a:pPr algn="l">
              <a:spcAft>
                <a:spcPts val="300"/>
              </a:spcAft>
            </a:pPr>
            <a:r>
              <a:rPr sz="1600" b="1" i="0">
                <a:solidFill>
                  <a:srgbClr val="0B3C49"/>
                </a:solidFill>
                <a:latin typeface="Calibri"/>
              </a:rPr>
              <a:t>Class weights didn't help</a:t>
            </a:r>
          </a:p>
          <a:p>
            <a:pPr algn="l">
              <a:spcAft>
                <a:spcPts val="300"/>
              </a:spcAft>
            </a:pPr>
            <a:r>
              <a:rPr sz="1300" b="0" i="0">
                <a:solidFill>
                  <a:srgbClr val="4B5B5F"/>
                </a:solidFill>
                <a:latin typeface="Calibri"/>
              </a:rPr>
              <a:t>Same ranking, worse probabilities; the imbalance is handled by the risk-band thresholds instead</a:t>
            </a:r>
          </a:p>
        </p:txBody>
      </p:sp>
      <p:sp>
        <p:nvSpPr>
          <p:cNvPr id="11" name="TextBox 10"/>
          <p:cNvSpPr txBox="1"/>
          <p:nvPr/>
        </p:nvSpPr>
        <p:spPr>
          <a:xfrm>
            <a:off x="548640" y="6126480"/>
            <a:ext cx="6766560" cy="274320"/>
          </a:xfrm>
          <a:prstGeom prst="rect">
            <a:avLst/>
          </a:prstGeom>
          <a:noFill/>
        </p:spPr>
        <p:txBody>
          <a:bodyPr wrap="square" lIns="0" rIns="0" tIns="0" bIns="0" anchor="t">
            <a:spAutoFit/>
          </a:bodyPr>
          <a:lstStyle/>
          <a:p>
            <a:pPr algn="l"/>
            <a:r>
              <a:rPr sz="1100" b="0" i="1">
                <a:solidFill>
                  <a:srgbClr val="9AA5A8"/>
                </a:solidFill>
                <a:latin typeface="Calibri"/>
              </a:rPr>
              <a:t>All runs logged with their git commit in experiments/runs.csv</a:t>
            </a:r>
          </a:p>
        </p:txBody>
      </p:sp>
      <p:sp>
        <p:nvSpPr>
          <p:cNvPr id="12" name="TextBox 11"/>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8</a:t>
            </a:r>
          </a:p>
        </p:txBody>
      </p:sp>
      <p:sp>
        <p:nvSpPr>
          <p:cNvPr id="13" name="TextBox 12"/>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Choosing the final model, before looking at the test set</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Logistic regression: as good as the rest, and simpler</a:t>
            </a:r>
          </a:p>
        </p:txBody>
      </p:sp>
      <p:sp>
        <p:nvSpPr>
          <p:cNvPr id="4" name="Oval 3"/>
          <p:cNvSpPr/>
          <p:nvPr/>
        </p:nvSpPr>
        <p:spPr>
          <a:xfrm>
            <a:off x="548640" y="1783080"/>
            <a:ext cx="548640" cy="54864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548640" y="2514600"/>
            <a:ext cx="2606040" cy="457200"/>
          </a:xfrm>
          <a:prstGeom prst="rect">
            <a:avLst/>
          </a:prstGeom>
          <a:noFill/>
        </p:spPr>
        <p:txBody>
          <a:bodyPr wrap="square" lIns="0" rIns="0" tIns="0" bIns="0" anchor="t">
            <a:spAutoFit/>
          </a:bodyPr>
          <a:lstStyle/>
          <a:p>
            <a:pPr algn="l"/>
            <a:r>
              <a:rPr sz="1700" b="1" i="0">
                <a:solidFill>
                  <a:srgbClr val="0B3C49"/>
                </a:solidFill>
                <a:latin typeface="Calibri"/>
              </a:rPr>
              <a:t>Compare on validation</a:t>
            </a:r>
          </a:p>
        </p:txBody>
      </p:sp>
      <p:sp>
        <p:nvSpPr>
          <p:cNvPr id="6" name="TextBox 5"/>
          <p:cNvSpPr txBox="1"/>
          <p:nvPr/>
        </p:nvSpPr>
        <p:spPr>
          <a:xfrm>
            <a:off x="548640" y="2971800"/>
            <a:ext cx="2606040" cy="914400"/>
          </a:xfrm>
          <a:prstGeom prst="rect">
            <a:avLst/>
          </a:prstGeom>
          <a:noFill/>
        </p:spPr>
        <p:txBody>
          <a:bodyPr wrap="square" lIns="0" rIns="0" tIns="0" bIns="0" anchor="t">
            <a:spAutoFit/>
          </a:bodyPr>
          <a:lstStyle/>
          <a:p>
            <a:pPr algn="l"/>
            <a:r>
              <a:rPr sz="1400" b="0" i="0">
                <a:solidFill>
                  <a:srgbClr val="4B5B5F"/>
                </a:solidFill>
                <a:latin typeface="Calibri"/>
              </a:rPr>
              <a:t>All models ≈ 0.73; no reliable winner</a:t>
            </a:r>
          </a:p>
        </p:txBody>
      </p:sp>
      <p:sp>
        <p:nvSpPr>
          <p:cNvPr id="7" name="Oval 6"/>
          <p:cNvSpPr/>
          <p:nvPr/>
        </p:nvSpPr>
        <p:spPr>
          <a:xfrm>
            <a:off x="3429000" y="1783080"/>
            <a:ext cx="548640" cy="548640"/>
          </a:xfrm>
          <a:prstGeom prst="ellipse">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8" name="TextBox 7"/>
          <p:cNvSpPr txBox="1"/>
          <p:nvPr/>
        </p:nvSpPr>
        <p:spPr>
          <a:xfrm>
            <a:off x="3429000" y="2514600"/>
            <a:ext cx="2606040" cy="457200"/>
          </a:xfrm>
          <a:prstGeom prst="rect">
            <a:avLst/>
          </a:prstGeom>
          <a:noFill/>
        </p:spPr>
        <p:txBody>
          <a:bodyPr wrap="square" lIns="0" rIns="0" tIns="0" bIns="0" anchor="t">
            <a:spAutoFit/>
          </a:bodyPr>
          <a:lstStyle/>
          <a:p>
            <a:pPr algn="l"/>
            <a:r>
              <a:rPr sz="1700" b="1" i="0">
                <a:solidFill>
                  <a:srgbClr val="0B3C49"/>
                </a:solidFill>
                <a:latin typeface="Calibri"/>
              </a:rPr>
              <a:t>Decide and write it down</a:t>
            </a:r>
          </a:p>
        </p:txBody>
      </p:sp>
      <p:sp>
        <p:nvSpPr>
          <p:cNvPr id="9" name="TextBox 8"/>
          <p:cNvSpPr txBox="1"/>
          <p:nvPr/>
        </p:nvSpPr>
        <p:spPr>
          <a:xfrm>
            <a:off x="3429000" y="2971800"/>
            <a:ext cx="2606040" cy="914400"/>
          </a:xfrm>
          <a:prstGeom prst="rect">
            <a:avLst/>
          </a:prstGeom>
          <a:noFill/>
        </p:spPr>
        <p:txBody>
          <a:bodyPr wrap="square" lIns="0" rIns="0" tIns="0" bIns="0" anchor="t">
            <a:spAutoFit/>
          </a:bodyPr>
          <a:lstStyle/>
          <a:p>
            <a:pPr algn="l"/>
            <a:r>
              <a:rPr sz="1400" b="0" i="0">
                <a:solidFill>
                  <a:srgbClr val="4B5B5F"/>
                </a:solidFill>
                <a:latin typeface="Calibri"/>
              </a:rPr>
              <a:t>docs/final_model.md: logistic regression, committed to git first</a:t>
            </a:r>
          </a:p>
        </p:txBody>
      </p:sp>
      <p:sp>
        <p:nvSpPr>
          <p:cNvPr id="10" name="Oval 9"/>
          <p:cNvSpPr/>
          <p:nvPr/>
        </p:nvSpPr>
        <p:spPr>
          <a:xfrm>
            <a:off x="6309359" y="1783080"/>
            <a:ext cx="548640" cy="54864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1" name="TextBox 10"/>
          <p:cNvSpPr txBox="1"/>
          <p:nvPr/>
        </p:nvSpPr>
        <p:spPr>
          <a:xfrm>
            <a:off x="6309359" y="2514600"/>
            <a:ext cx="2606040" cy="457200"/>
          </a:xfrm>
          <a:prstGeom prst="rect">
            <a:avLst/>
          </a:prstGeom>
          <a:noFill/>
        </p:spPr>
        <p:txBody>
          <a:bodyPr wrap="square" lIns="0" rIns="0" tIns="0" bIns="0" anchor="t">
            <a:spAutoFit/>
          </a:bodyPr>
          <a:lstStyle/>
          <a:p>
            <a:pPr algn="l"/>
            <a:r>
              <a:rPr sz="1700" b="1" i="0">
                <a:solidFill>
                  <a:srgbClr val="0B3C49"/>
                </a:solidFill>
                <a:latin typeface="Calibri"/>
              </a:rPr>
              <a:t>Test once</a:t>
            </a:r>
          </a:p>
        </p:txBody>
      </p:sp>
      <p:sp>
        <p:nvSpPr>
          <p:cNvPr id="12" name="TextBox 11"/>
          <p:cNvSpPr txBox="1"/>
          <p:nvPr/>
        </p:nvSpPr>
        <p:spPr>
          <a:xfrm>
            <a:off x="6309359" y="2971800"/>
            <a:ext cx="2606040" cy="914400"/>
          </a:xfrm>
          <a:prstGeom prst="rect">
            <a:avLst/>
          </a:prstGeom>
          <a:noFill/>
        </p:spPr>
        <p:txBody>
          <a:bodyPr wrap="square" lIns="0" rIns="0" tIns="0" bIns="0" anchor="t">
            <a:spAutoFit/>
          </a:bodyPr>
          <a:lstStyle/>
          <a:p>
            <a:pPr algn="l"/>
            <a:r>
              <a:rPr sz="1400" b="0" i="0">
                <a:solidFill>
                  <a:srgbClr val="4B5B5F"/>
                </a:solidFill>
                <a:latin typeface="Calibri"/>
              </a:rPr>
              <a:t>Refit on train + validation, score the untouched test week once</a:t>
            </a:r>
          </a:p>
        </p:txBody>
      </p:sp>
      <p:sp>
        <p:nvSpPr>
          <p:cNvPr id="13" name="Oval 12"/>
          <p:cNvSpPr/>
          <p:nvPr/>
        </p:nvSpPr>
        <p:spPr>
          <a:xfrm>
            <a:off x="9189719" y="1783080"/>
            <a:ext cx="548640" cy="54864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4" name="TextBox 13"/>
          <p:cNvSpPr txBox="1"/>
          <p:nvPr/>
        </p:nvSpPr>
        <p:spPr>
          <a:xfrm>
            <a:off x="9189719" y="2514600"/>
            <a:ext cx="2606040" cy="457200"/>
          </a:xfrm>
          <a:prstGeom prst="rect">
            <a:avLst/>
          </a:prstGeom>
          <a:noFill/>
        </p:spPr>
        <p:txBody>
          <a:bodyPr wrap="square" lIns="0" rIns="0" tIns="0" bIns="0" anchor="t">
            <a:spAutoFit/>
          </a:bodyPr>
          <a:lstStyle/>
          <a:p>
            <a:pPr algn="l"/>
            <a:r>
              <a:rPr sz="1700" b="1" i="0">
                <a:solidFill>
                  <a:srgbClr val="0B3C49"/>
                </a:solidFill>
                <a:latin typeface="Calibri"/>
              </a:rPr>
              <a:t>Report honestly</a:t>
            </a:r>
          </a:p>
        </p:txBody>
      </p:sp>
      <p:sp>
        <p:nvSpPr>
          <p:cNvPr id="15" name="TextBox 14"/>
          <p:cNvSpPr txBox="1"/>
          <p:nvPr/>
        </p:nvSpPr>
        <p:spPr>
          <a:xfrm>
            <a:off x="9189719" y="2971800"/>
            <a:ext cx="2606040" cy="914400"/>
          </a:xfrm>
          <a:prstGeom prst="rect">
            <a:avLst/>
          </a:prstGeom>
          <a:noFill/>
        </p:spPr>
        <p:txBody>
          <a:bodyPr wrap="square" lIns="0" rIns="0" tIns="0" bIns="0" anchor="t">
            <a:spAutoFit/>
          </a:bodyPr>
          <a:lstStyle/>
          <a:p>
            <a:pPr algn="l"/>
            <a:r>
              <a:rPr sz="1400" b="0" i="0">
                <a:solidFill>
                  <a:srgbClr val="4B5B5F"/>
                </a:solidFill>
                <a:latin typeface="Calibri"/>
              </a:rPr>
              <a:t>Whatever the result, the choice does not change</a:t>
            </a:r>
          </a:p>
        </p:txBody>
      </p:sp>
      <p:sp>
        <p:nvSpPr>
          <p:cNvPr id="16" name="TextBox 15"/>
          <p:cNvSpPr txBox="1"/>
          <p:nvPr/>
        </p:nvSpPr>
        <p:spPr>
          <a:xfrm>
            <a:off x="548640" y="4160520"/>
            <a:ext cx="10972800" cy="411480"/>
          </a:xfrm>
          <a:prstGeom prst="rect">
            <a:avLst/>
          </a:prstGeom>
          <a:noFill/>
        </p:spPr>
        <p:txBody>
          <a:bodyPr wrap="square" lIns="0" rIns="0" tIns="0" bIns="0" anchor="t">
            <a:spAutoFit/>
          </a:bodyPr>
          <a:lstStyle/>
          <a:p>
            <a:pPr algn="l"/>
            <a:r>
              <a:rPr sz="2000" b="1" i="0">
                <a:solidFill>
                  <a:srgbClr val="0B3C49"/>
                </a:solidFill>
                <a:latin typeface="Cambria"/>
              </a:rPr>
              <a:t>Why logistic regression?</a:t>
            </a:r>
          </a:p>
        </p:txBody>
      </p:sp>
      <p:sp>
        <p:nvSpPr>
          <p:cNvPr id="17" name="Rounded Rectangle 16"/>
          <p:cNvSpPr/>
          <p:nvPr/>
        </p:nvSpPr>
        <p:spPr>
          <a:xfrm>
            <a:off x="548640" y="4663440"/>
            <a:ext cx="3520440" cy="141732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46320"/>
            <a:ext cx="3108960" cy="1188720"/>
          </a:xfrm>
          <a:prstGeom prst="rect">
            <a:avLst/>
          </a:prstGeom>
          <a:noFill/>
        </p:spPr>
        <p:txBody>
          <a:bodyPr wrap="square" lIns="0" rIns="0" tIns="0" bIns="0" anchor="t">
            <a:spAutoFit/>
          </a:bodyPr>
          <a:lstStyle/>
          <a:p>
            <a:pPr algn="l">
              <a:spcAft>
                <a:spcPts val="300"/>
              </a:spcAft>
            </a:pPr>
            <a:r>
              <a:rPr sz="1600" b="1" i="0">
                <a:solidFill>
                  <a:srgbClr val="1C2A2E"/>
                </a:solidFill>
                <a:latin typeface="Calibri"/>
              </a:rPr>
              <a:t>Same performance</a:t>
            </a:r>
          </a:p>
          <a:p>
            <a:pPr algn="l">
              <a:spcAft>
                <a:spcPts val="300"/>
              </a:spcAft>
            </a:pPr>
            <a:r>
              <a:rPr sz="1400" b="0" i="0">
                <a:solidFill>
                  <a:srgbClr val="4B5B5F"/>
                </a:solidFill>
                <a:latin typeface="Calibri"/>
              </a:rPr>
              <a:t>within noise of the best tree model</a:t>
            </a:r>
          </a:p>
        </p:txBody>
      </p:sp>
      <p:sp>
        <p:nvSpPr>
          <p:cNvPr id="19" name="Rounded Rectangle 18"/>
          <p:cNvSpPr/>
          <p:nvPr/>
        </p:nvSpPr>
        <p:spPr>
          <a:xfrm>
            <a:off x="4343400" y="4663440"/>
            <a:ext cx="3520440" cy="141732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846320"/>
            <a:ext cx="3108960" cy="1188720"/>
          </a:xfrm>
          <a:prstGeom prst="rect">
            <a:avLst/>
          </a:prstGeom>
          <a:noFill/>
        </p:spPr>
        <p:txBody>
          <a:bodyPr wrap="square" lIns="0" rIns="0" tIns="0" bIns="0" anchor="t">
            <a:spAutoFit/>
          </a:bodyPr>
          <a:lstStyle/>
          <a:p>
            <a:pPr algn="l">
              <a:spcAft>
                <a:spcPts val="300"/>
              </a:spcAft>
            </a:pPr>
            <a:r>
              <a:rPr sz="1600" b="1" i="0">
                <a:solidFill>
                  <a:srgbClr val="1C2A2E"/>
                </a:solidFill>
                <a:latin typeface="Calibri"/>
              </a:rPr>
              <a:t>No overfitting</a:t>
            </a:r>
          </a:p>
          <a:p>
            <a:pPr algn="l">
              <a:spcAft>
                <a:spcPts val="300"/>
              </a:spcAft>
            </a:pPr>
            <a:r>
              <a:rPr sz="1400" b="0" i="0">
                <a:solidFill>
                  <a:srgbClr val="4B5B5F"/>
                </a:solidFill>
                <a:latin typeface="Calibri"/>
              </a:rPr>
              <a:t>train 0.728 vs validation 0.726</a:t>
            </a:r>
          </a:p>
        </p:txBody>
      </p:sp>
      <p:sp>
        <p:nvSpPr>
          <p:cNvPr id="21" name="Rounded Rectangle 20"/>
          <p:cNvSpPr/>
          <p:nvPr/>
        </p:nvSpPr>
        <p:spPr>
          <a:xfrm>
            <a:off x="8138160" y="4663440"/>
            <a:ext cx="3520440" cy="141732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4846320"/>
            <a:ext cx="3108960" cy="1188720"/>
          </a:xfrm>
          <a:prstGeom prst="rect">
            <a:avLst/>
          </a:prstGeom>
          <a:noFill/>
        </p:spPr>
        <p:txBody>
          <a:bodyPr wrap="square" lIns="0" rIns="0" tIns="0" bIns="0" anchor="t">
            <a:spAutoFit/>
          </a:bodyPr>
          <a:lstStyle/>
          <a:p>
            <a:pPr algn="l">
              <a:spcAft>
                <a:spcPts val="300"/>
              </a:spcAft>
            </a:pPr>
            <a:r>
              <a:rPr sz="1600" b="1" i="0">
                <a:solidFill>
                  <a:srgbClr val="1C2A2E"/>
                </a:solidFill>
                <a:latin typeface="Calibri"/>
              </a:rPr>
              <a:t>Explainable</a:t>
            </a:r>
          </a:p>
          <a:p>
            <a:pPr algn="l">
              <a:spcAft>
                <a:spcPts val="300"/>
              </a:spcAft>
            </a:pPr>
            <a:r>
              <a:rPr sz="1400" b="0" i="0">
                <a:solidFill>
                  <a:srgbClr val="4B5B5F"/>
                </a:solidFill>
                <a:latin typeface="Calibri"/>
              </a:rPr>
              <a:t>one clear effect per feature: staff see why a patient is flagged</a:t>
            </a:r>
          </a:p>
        </p:txBody>
      </p:sp>
      <p:sp>
        <p:nvSpPr>
          <p:cNvPr id="23" name="TextBox 2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9</a:t>
            </a:r>
          </a:p>
        </p:txBody>
      </p:sp>
      <p:sp>
        <p:nvSpPr>
          <p:cNvPr id="24" name="TextBox 23"/>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Results on the untouched test week</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17,676 appointments, June 3–8, 2016 · 18.5% no-shows</a:t>
            </a:r>
          </a:p>
        </p:txBody>
      </p:sp>
      <p:sp>
        <p:nvSpPr>
          <p:cNvPr id="4" name="TextBox 3"/>
          <p:cNvSpPr txBox="1"/>
          <p:nvPr/>
        </p:nvSpPr>
        <p:spPr>
          <a:xfrm>
            <a:off x="548640" y="1737360"/>
            <a:ext cx="2926080" cy="701040"/>
          </a:xfrm>
          <a:prstGeom prst="rect">
            <a:avLst/>
          </a:prstGeom>
          <a:noFill/>
        </p:spPr>
        <p:txBody>
          <a:bodyPr wrap="square" lIns="0" rIns="0" tIns="0" bIns="0" anchor="t">
            <a:spAutoFit/>
          </a:bodyPr>
          <a:lstStyle/>
          <a:p>
            <a:pPr algn="l"/>
            <a:r>
              <a:rPr sz="4600" b="1" i="0">
                <a:solidFill>
                  <a:srgbClr val="13747D"/>
                </a:solidFill>
                <a:latin typeface="Cambria"/>
              </a:rPr>
              <a:t>0.723</a:t>
            </a:r>
          </a:p>
        </p:txBody>
      </p:sp>
      <p:sp>
        <p:nvSpPr>
          <p:cNvPr id="5" name="TextBox 4"/>
          <p:cNvSpPr txBox="1"/>
          <p:nvPr/>
        </p:nvSpPr>
        <p:spPr>
          <a:xfrm>
            <a:off x="548640" y="2484119"/>
            <a:ext cx="2926080" cy="731520"/>
          </a:xfrm>
          <a:prstGeom prst="rect">
            <a:avLst/>
          </a:prstGeom>
          <a:noFill/>
        </p:spPr>
        <p:txBody>
          <a:bodyPr wrap="square" lIns="0" rIns="0" tIns="0" bIns="0" anchor="t">
            <a:spAutoFit/>
          </a:bodyPr>
          <a:lstStyle/>
          <a:p>
            <a:pPr algn="l"/>
            <a:r>
              <a:rPr sz="1300" b="0" i="0">
                <a:solidFill>
                  <a:srgbClr val="4B5B5F"/>
                </a:solidFill>
                <a:latin typeface="Calibri"/>
              </a:rPr>
              <a:t>ROC-AUC (95% CI 0.715–0.732)
validation was 0.726: it generalises</a:t>
            </a:r>
          </a:p>
        </p:txBody>
      </p:sp>
      <p:sp>
        <p:nvSpPr>
          <p:cNvPr id="6" name="TextBox 5"/>
          <p:cNvSpPr txBox="1"/>
          <p:nvPr/>
        </p:nvSpPr>
        <p:spPr>
          <a:xfrm>
            <a:off x="548640" y="3291840"/>
            <a:ext cx="2926080" cy="701040"/>
          </a:xfrm>
          <a:prstGeom prst="rect">
            <a:avLst/>
          </a:prstGeom>
          <a:noFill/>
        </p:spPr>
        <p:txBody>
          <a:bodyPr wrap="square" lIns="0" rIns="0" tIns="0" bIns="0" anchor="t">
            <a:spAutoFit/>
          </a:bodyPr>
          <a:lstStyle/>
          <a:p>
            <a:pPr algn="l"/>
            <a:r>
              <a:rPr sz="4600" b="1" i="0">
                <a:solidFill>
                  <a:srgbClr val="E85D45"/>
                </a:solidFill>
                <a:latin typeface="Cambria"/>
              </a:rPr>
              <a:t>41%</a:t>
            </a:r>
          </a:p>
        </p:txBody>
      </p:sp>
      <p:sp>
        <p:nvSpPr>
          <p:cNvPr id="7" name="TextBox 6"/>
          <p:cNvSpPr txBox="1"/>
          <p:nvPr/>
        </p:nvSpPr>
        <p:spPr>
          <a:xfrm>
            <a:off x="548640" y="4038600"/>
            <a:ext cx="2926080" cy="731520"/>
          </a:xfrm>
          <a:prstGeom prst="rect">
            <a:avLst/>
          </a:prstGeom>
          <a:noFill/>
        </p:spPr>
        <p:txBody>
          <a:bodyPr wrap="square" lIns="0" rIns="0" tIns="0" bIns="0" anchor="t">
            <a:spAutoFit/>
          </a:bodyPr>
          <a:lstStyle/>
          <a:p>
            <a:pPr algn="l"/>
            <a:r>
              <a:rPr sz="1300" b="0" i="0">
                <a:solidFill>
                  <a:srgbClr val="4B5B5F"/>
                </a:solidFill>
                <a:latin typeface="Calibri"/>
              </a:rPr>
              <a:t>of all no-shows are in the High band,
which is only 23% of appointments</a:t>
            </a:r>
          </a:p>
        </p:txBody>
      </p:sp>
      <p:sp>
        <p:nvSpPr>
          <p:cNvPr id="8" name="TextBox 7"/>
          <p:cNvSpPr txBox="1"/>
          <p:nvPr/>
        </p:nvSpPr>
        <p:spPr>
          <a:xfrm>
            <a:off x="548640" y="4846320"/>
            <a:ext cx="2926080" cy="701040"/>
          </a:xfrm>
          <a:prstGeom prst="rect">
            <a:avLst/>
          </a:prstGeom>
          <a:noFill/>
        </p:spPr>
        <p:txBody>
          <a:bodyPr wrap="square" lIns="0" rIns="0" tIns="0" bIns="0" anchor="t">
            <a:spAutoFit/>
          </a:bodyPr>
          <a:lstStyle/>
          <a:p>
            <a:pPr algn="l"/>
            <a:r>
              <a:rPr sz="4600" b="1" i="0">
                <a:solidFill>
                  <a:srgbClr val="0B3C49"/>
                </a:solidFill>
                <a:latin typeface="Cambria"/>
              </a:rPr>
              <a:t>4×</a:t>
            </a:r>
          </a:p>
        </p:txBody>
      </p:sp>
      <p:sp>
        <p:nvSpPr>
          <p:cNvPr id="9" name="TextBox 8"/>
          <p:cNvSpPr txBox="1"/>
          <p:nvPr/>
        </p:nvSpPr>
        <p:spPr>
          <a:xfrm>
            <a:off x="548640" y="5593080"/>
            <a:ext cx="2926080" cy="731520"/>
          </a:xfrm>
          <a:prstGeom prst="rect">
            <a:avLst/>
          </a:prstGeom>
          <a:noFill/>
        </p:spPr>
        <p:txBody>
          <a:bodyPr wrap="square" lIns="0" rIns="0" tIns="0" bIns="0" anchor="t">
            <a:spAutoFit/>
          </a:bodyPr>
          <a:lstStyle/>
          <a:p>
            <a:pPr algn="l"/>
            <a:r>
              <a:rPr sz="1300" b="0" i="0">
                <a:solidFill>
                  <a:srgbClr val="4B5B5F"/>
                </a:solidFill>
                <a:latin typeface="Calibri"/>
              </a:rPr>
              <a:t>a High appointment is 4 times as likely
to be missed as a Low one</a:t>
            </a:r>
          </a:p>
        </p:txBody>
      </p:sp>
      <p:graphicFrame>
        <p:nvGraphicFramePr>
          <p:cNvPr id="10" name="Chart 9"/>
          <p:cNvGraphicFramePr>
            <a:graphicFrameLocks noGrp="1"/>
          </p:cNvGraphicFramePr>
          <p:nvPr/>
        </p:nvGraphicFramePr>
        <p:xfrm>
          <a:off x="3931920" y="1600200"/>
          <a:ext cx="4206240" cy="45262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737360"/>
            <a:ext cx="3108960" cy="434340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874519"/>
            <a:ext cx="2743200" cy="365760"/>
          </a:xfrm>
          <a:prstGeom prst="rect">
            <a:avLst/>
          </a:prstGeom>
          <a:noFill/>
        </p:spPr>
        <p:txBody>
          <a:bodyPr wrap="square" lIns="0" rIns="0" tIns="0" bIns="0" anchor="t">
            <a:spAutoFit/>
          </a:bodyPr>
          <a:lstStyle/>
          <a:p>
            <a:pPr algn="l"/>
            <a:r>
              <a:rPr sz="1500" b="1" i="0">
                <a:solidFill>
                  <a:srgbClr val="0B3C49"/>
                </a:solidFill>
                <a:latin typeface="Calibri"/>
              </a:rPr>
              <a:t>vs baselines (ROC-AUC)</a:t>
            </a:r>
          </a:p>
        </p:txBody>
      </p:sp>
      <p:sp>
        <p:nvSpPr>
          <p:cNvPr id="13" name="TextBox 12"/>
          <p:cNvSpPr txBox="1"/>
          <p:nvPr/>
        </p:nvSpPr>
        <p:spPr>
          <a:xfrm>
            <a:off x="8732520" y="2377440"/>
            <a:ext cx="1737360" cy="548640"/>
          </a:xfrm>
          <a:prstGeom prst="rect">
            <a:avLst/>
          </a:prstGeom>
          <a:noFill/>
        </p:spPr>
        <p:txBody>
          <a:bodyPr wrap="square" lIns="0" rIns="0" tIns="0" bIns="0" anchor="t">
            <a:spAutoFit/>
          </a:bodyPr>
          <a:lstStyle/>
          <a:p>
            <a:pPr algn="l"/>
            <a:r>
              <a:rPr sz="1400" b="0" i="0">
                <a:solidFill>
                  <a:srgbClr val="1C2A2E"/>
                </a:solidFill>
                <a:latin typeface="Calibri"/>
              </a:rPr>
              <a:t>Majority class</a:t>
            </a:r>
          </a:p>
        </p:txBody>
      </p:sp>
      <p:sp>
        <p:nvSpPr>
          <p:cNvPr id="14" name="TextBox 13"/>
          <p:cNvSpPr txBox="1"/>
          <p:nvPr/>
        </p:nvSpPr>
        <p:spPr>
          <a:xfrm>
            <a:off x="10332720" y="2304288"/>
            <a:ext cx="1097280" cy="548640"/>
          </a:xfrm>
          <a:prstGeom prst="rect">
            <a:avLst/>
          </a:prstGeom>
          <a:noFill/>
        </p:spPr>
        <p:txBody>
          <a:bodyPr wrap="square" lIns="0" rIns="0" tIns="0" bIns="0" anchor="t">
            <a:spAutoFit/>
          </a:bodyPr>
          <a:lstStyle/>
          <a:p>
            <a:pPr algn="r"/>
            <a:r>
              <a:rPr sz="2200" b="1" i="0">
                <a:solidFill>
                  <a:srgbClr val="9AA5A8"/>
                </a:solidFill>
                <a:latin typeface="Cambria"/>
              </a:rPr>
              <a:t>0.500</a:t>
            </a:r>
          </a:p>
        </p:txBody>
      </p:sp>
      <p:sp>
        <p:nvSpPr>
          <p:cNvPr id="15" name="TextBox 14"/>
          <p:cNvSpPr txBox="1"/>
          <p:nvPr/>
        </p:nvSpPr>
        <p:spPr>
          <a:xfrm>
            <a:off x="8732520" y="3154680"/>
            <a:ext cx="1737360" cy="548640"/>
          </a:xfrm>
          <a:prstGeom prst="rect">
            <a:avLst/>
          </a:prstGeom>
          <a:noFill/>
        </p:spPr>
        <p:txBody>
          <a:bodyPr wrap="square" lIns="0" rIns="0" tIns="0" bIns="0" anchor="t">
            <a:spAutoFit/>
          </a:bodyPr>
          <a:lstStyle/>
          <a:p>
            <a:pPr algn="l"/>
            <a:r>
              <a:rPr sz="1400" b="0" i="0">
                <a:solidFill>
                  <a:srgbClr val="1C2A2E"/>
                </a:solidFill>
                <a:latin typeface="Calibri"/>
              </a:rPr>
              <a:t>Lead-time rule</a:t>
            </a:r>
          </a:p>
        </p:txBody>
      </p:sp>
      <p:sp>
        <p:nvSpPr>
          <p:cNvPr id="16" name="TextBox 15"/>
          <p:cNvSpPr txBox="1"/>
          <p:nvPr/>
        </p:nvSpPr>
        <p:spPr>
          <a:xfrm>
            <a:off x="10332720" y="3081528"/>
            <a:ext cx="1097280" cy="548640"/>
          </a:xfrm>
          <a:prstGeom prst="rect">
            <a:avLst/>
          </a:prstGeom>
          <a:noFill/>
        </p:spPr>
        <p:txBody>
          <a:bodyPr wrap="square" lIns="0" rIns="0" tIns="0" bIns="0" anchor="t">
            <a:spAutoFit/>
          </a:bodyPr>
          <a:lstStyle/>
          <a:p>
            <a:pPr algn="r"/>
            <a:r>
              <a:rPr sz="2200" b="1" i="0">
                <a:solidFill>
                  <a:srgbClr val="9AA5A8"/>
                </a:solidFill>
                <a:latin typeface="Cambria"/>
              </a:rPr>
              <a:t>0.692</a:t>
            </a:r>
          </a:p>
        </p:txBody>
      </p:sp>
      <p:sp>
        <p:nvSpPr>
          <p:cNvPr id="17" name="TextBox 16"/>
          <p:cNvSpPr txBox="1"/>
          <p:nvPr/>
        </p:nvSpPr>
        <p:spPr>
          <a:xfrm>
            <a:off x="8732520" y="3931920"/>
            <a:ext cx="1737360" cy="548640"/>
          </a:xfrm>
          <a:prstGeom prst="rect">
            <a:avLst/>
          </a:prstGeom>
          <a:noFill/>
        </p:spPr>
        <p:txBody>
          <a:bodyPr wrap="square" lIns="0" rIns="0" tIns="0" bIns="0" anchor="t">
            <a:spAutoFit/>
          </a:bodyPr>
          <a:lstStyle/>
          <a:p>
            <a:pPr algn="l"/>
            <a:r>
              <a:rPr sz="1400" b="0" i="0">
                <a:solidFill>
                  <a:srgbClr val="1C2A2E"/>
                </a:solidFill>
                <a:latin typeface="Calibri"/>
              </a:rPr>
              <a:t>Final model</a:t>
            </a:r>
          </a:p>
        </p:txBody>
      </p:sp>
      <p:sp>
        <p:nvSpPr>
          <p:cNvPr id="18" name="TextBox 17"/>
          <p:cNvSpPr txBox="1"/>
          <p:nvPr/>
        </p:nvSpPr>
        <p:spPr>
          <a:xfrm>
            <a:off x="10332720" y="3858768"/>
            <a:ext cx="1097280" cy="548640"/>
          </a:xfrm>
          <a:prstGeom prst="rect">
            <a:avLst/>
          </a:prstGeom>
          <a:noFill/>
        </p:spPr>
        <p:txBody>
          <a:bodyPr wrap="square" lIns="0" rIns="0" tIns="0" bIns="0" anchor="t">
            <a:spAutoFit/>
          </a:bodyPr>
          <a:lstStyle/>
          <a:p>
            <a:pPr algn="r"/>
            <a:r>
              <a:rPr sz="2200" b="1" i="0">
                <a:solidFill>
                  <a:srgbClr val="13747D"/>
                </a:solidFill>
                <a:latin typeface="Cambria"/>
              </a:rPr>
              <a:t>0.723</a:t>
            </a:r>
          </a:p>
        </p:txBody>
      </p:sp>
      <p:sp>
        <p:nvSpPr>
          <p:cNvPr id="19" name="TextBox 18"/>
          <p:cNvSpPr txBox="1"/>
          <p:nvPr/>
        </p:nvSpPr>
        <p:spPr>
          <a:xfrm>
            <a:off x="8732520" y="4709160"/>
            <a:ext cx="1737360" cy="548640"/>
          </a:xfrm>
          <a:prstGeom prst="rect">
            <a:avLst/>
          </a:prstGeom>
          <a:noFill/>
        </p:spPr>
        <p:txBody>
          <a:bodyPr wrap="square" lIns="0" rIns="0" tIns="0" bIns="0" anchor="t">
            <a:spAutoFit/>
          </a:bodyPr>
          <a:lstStyle/>
          <a:p>
            <a:pPr algn="l"/>
            <a:r>
              <a:rPr sz="1400" b="0" i="0">
                <a:solidFill>
                  <a:srgbClr val="1C2A2E"/>
                </a:solidFill>
                <a:latin typeface="Calibri"/>
              </a:rPr>
              <a:t>Gradient boosting*</a:t>
            </a:r>
          </a:p>
        </p:txBody>
      </p:sp>
      <p:sp>
        <p:nvSpPr>
          <p:cNvPr id="20" name="TextBox 19"/>
          <p:cNvSpPr txBox="1"/>
          <p:nvPr/>
        </p:nvSpPr>
        <p:spPr>
          <a:xfrm>
            <a:off x="10332720" y="4636008"/>
            <a:ext cx="1097280" cy="548640"/>
          </a:xfrm>
          <a:prstGeom prst="rect">
            <a:avLst/>
          </a:prstGeom>
          <a:noFill/>
        </p:spPr>
        <p:txBody>
          <a:bodyPr wrap="square" lIns="0" rIns="0" tIns="0" bIns="0" anchor="t">
            <a:spAutoFit/>
          </a:bodyPr>
          <a:lstStyle/>
          <a:p>
            <a:pPr algn="r"/>
            <a:r>
              <a:rPr sz="2200" b="1" i="0">
                <a:solidFill>
                  <a:srgbClr val="E85D45"/>
                </a:solidFill>
                <a:latin typeface="Cambria"/>
              </a:rPr>
              <a:t>0.737</a:t>
            </a:r>
          </a:p>
        </p:txBody>
      </p:sp>
      <p:sp>
        <p:nvSpPr>
          <p:cNvPr id="21" name="TextBox 20"/>
          <p:cNvSpPr txBox="1"/>
          <p:nvPr/>
        </p:nvSpPr>
        <p:spPr>
          <a:xfrm>
            <a:off x="8732520" y="5440680"/>
            <a:ext cx="2743200" cy="548640"/>
          </a:xfrm>
          <a:prstGeom prst="rect">
            <a:avLst/>
          </a:prstGeom>
          <a:noFill/>
        </p:spPr>
        <p:txBody>
          <a:bodyPr wrap="square" lIns="0" rIns="0" tIns="0" bIns="0" anchor="t">
            <a:spAutoFit/>
          </a:bodyPr>
          <a:lstStyle/>
          <a:p>
            <a:pPr algn="l"/>
            <a:r>
              <a:rPr sz="1200" b="0" i="1">
                <a:solidFill>
                  <a:srgbClr val="4B5B5F"/>
                </a:solidFill>
                <a:latin typeface="Calibri"/>
              </a:rPr>
              <a:t>* comparison only: next slide</a:t>
            </a:r>
          </a:p>
        </p:txBody>
      </p:sp>
      <p:sp>
        <p:nvSpPr>
          <p:cNvPr id="22" name="TextBox 21"/>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10</a:t>
            </a:r>
          </a:p>
        </p:txBody>
      </p:sp>
      <p:sp>
        <p:nvSpPr>
          <p:cNvPr id="23" name="TextBox 22"/>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Honest findings</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Reporting what did not go to plan</a:t>
            </a:r>
          </a:p>
        </p:txBody>
      </p:sp>
      <p:sp>
        <p:nvSpPr>
          <p:cNvPr id="4" name="Rounded Rectangle 3"/>
          <p:cNvSpPr/>
          <p:nvPr/>
        </p:nvSpPr>
        <p:spPr>
          <a:xfrm>
            <a:off x="548640" y="1691640"/>
            <a:ext cx="5486400" cy="438912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4937760" cy="457200"/>
          </a:xfrm>
          <a:prstGeom prst="rect">
            <a:avLst/>
          </a:prstGeom>
          <a:noFill/>
        </p:spPr>
        <p:txBody>
          <a:bodyPr wrap="square" lIns="0" rIns="0" tIns="0" bIns="0" anchor="t">
            <a:spAutoFit/>
          </a:bodyPr>
          <a:lstStyle/>
          <a:p>
            <a:pPr algn="l"/>
            <a:r>
              <a:rPr sz="1900" b="1" i="0">
                <a:solidFill>
                  <a:srgbClr val="0B3C49"/>
                </a:solidFill>
                <a:latin typeface="Cambria"/>
              </a:rPr>
              <a:t>Gradient boosting won on the test week</a:t>
            </a:r>
          </a:p>
        </p:txBody>
      </p:sp>
      <p:sp>
        <p:nvSpPr>
          <p:cNvPr id="6" name="TextBox 5"/>
          <p:cNvSpPr txBox="1"/>
          <p:nvPr/>
        </p:nvSpPr>
        <p:spPr>
          <a:xfrm>
            <a:off x="822960" y="2423160"/>
            <a:ext cx="4937760" cy="3657600"/>
          </a:xfrm>
          <a:prstGeom prst="rect">
            <a:avLst/>
          </a:prstGeom>
          <a:noFill/>
        </p:spPr>
        <p:txBody>
          <a:bodyPr wrap="square" lIns="0" rIns="0" tIns="0" bIns="0" anchor="t">
            <a:spAutoFit/>
          </a:bodyPr>
          <a:lstStyle/>
          <a:p>
            <a:pPr algn="l">
              <a:spcAft>
                <a:spcPts val="1000"/>
              </a:spcAft>
            </a:pPr>
            <a:r>
              <a:rPr sz="1500" b="1" i="0">
                <a:solidFill>
                  <a:srgbClr val="E85D45"/>
                </a:solidFill>
                <a:latin typeface="Calibri"/>
              </a:rPr>
              <a:t>+0.013 ROC-AUC </a:t>
            </a:r>
            <a:r>
              <a:rPr sz="1500" b="0" i="0">
                <a:solidFill>
                  <a:srgbClr val="1C2A2E"/>
                </a:solidFill>
                <a:latin typeface="Calibri"/>
              </a:rPr>
              <a:t>(95% CI +0.009 to +0.018), better in 100% of resamples, although on validation the gap was only noise.</a:t>
            </a:r>
          </a:p>
          <a:p>
            <a:pPr algn="l">
              <a:spcAft>
                <a:spcPts val="1000"/>
              </a:spcAft>
            </a:pPr>
            <a:r>
              <a:rPr sz="1500" b="1" i="0">
                <a:solidFill>
                  <a:srgbClr val="1C2A2E"/>
                </a:solidFill>
                <a:latin typeface="Calibri"/>
              </a:rPr>
              <a:t>I kept logistic regression, as pre-registered. </a:t>
            </a:r>
            <a:r>
              <a:rPr sz="1500" b="0" i="0">
                <a:solidFill>
                  <a:srgbClr val="1C2A2E"/>
                </a:solidFill>
                <a:latin typeface="Calibri"/>
              </a:rPr>
              <a:t>Switching after seeing test scores would make the test result a biased estimate.</a:t>
            </a:r>
          </a:p>
          <a:p>
            <a:pPr algn="l">
              <a:spcAft>
                <a:spcPts val="1000"/>
              </a:spcAft>
            </a:pPr>
            <a:r>
              <a:rPr sz="1500" b="1" i="0">
                <a:solidFill>
                  <a:srgbClr val="1C2A2E"/>
                </a:solidFill>
                <a:latin typeface="Calibri"/>
              </a:rPr>
              <a:t>Recommendation: </a:t>
            </a:r>
            <a:r>
              <a:rPr sz="1500" b="0" i="0">
                <a:solidFill>
                  <a:srgbClr val="1C2A2E"/>
                </a:solidFill>
                <a:latin typeface="Calibri"/>
              </a:rPr>
              <a:t>gradient boosting for the next version, confirmed on new data.</a:t>
            </a:r>
          </a:p>
        </p:txBody>
      </p:sp>
      <p:sp>
        <p:nvSpPr>
          <p:cNvPr id="7" name="TextBox 6"/>
          <p:cNvSpPr txBox="1"/>
          <p:nvPr/>
        </p:nvSpPr>
        <p:spPr>
          <a:xfrm>
            <a:off x="822960" y="4617720"/>
            <a:ext cx="2286000" cy="518160"/>
          </a:xfrm>
          <a:prstGeom prst="rect">
            <a:avLst/>
          </a:prstGeom>
          <a:noFill/>
        </p:spPr>
        <p:txBody>
          <a:bodyPr wrap="square" lIns="0" rIns="0" tIns="0" bIns="0" anchor="t">
            <a:spAutoFit/>
          </a:bodyPr>
          <a:lstStyle/>
          <a:p>
            <a:pPr algn="l"/>
            <a:r>
              <a:rPr sz="3400" b="1" i="0">
                <a:solidFill>
                  <a:srgbClr val="13747D"/>
                </a:solidFill>
                <a:latin typeface="Cambria"/>
              </a:rPr>
              <a:t>0.723</a:t>
            </a:r>
          </a:p>
        </p:txBody>
      </p:sp>
      <p:sp>
        <p:nvSpPr>
          <p:cNvPr id="8" name="TextBox 7"/>
          <p:cNvSpPr txBox="1"/>
          <p:nvPr/>
        </p:nvSpPr>
        <p:spPr>
          <a:xfrm>
            <a:off x="822960" y="5181599"/>
            <a:ext cx="2286000" cy="731520"/>
          </a:xfrm>
          <a:prstGeom prst="rect">
            <a:avLst/>
          </a:prstGeom>
          <a:noFill/>
        </p:spPr>
        <p:txBody>
          <a:bodyPr wrap="square" lIns="0" rIns="0" tIns="0" bIns="0" anchor="t">
            <a:spAutoFit/>
          </a:bodyPr>
          <a:lstStyle/>
          <a:p>
            <a:pPr algn="l"/>
            <a:r>
              <a:rPr sz="1300" b="0" i="0">
                <a:solidFill>
                  <a:srgbClr val="4B5B5F"/>
                </a:solidFill>
                <a:latin typeface="Calibri"/>
              </a:rPr>
              <a:t>logistic regression
(final, pre-registered)</a:t>
            </a:r>
          </a:p>
        </p:txBody>
      </p:sp>
      <p:sp>
        <p:nvSpPr>
          <p:cNvPr id="9" name="TextBox 8"/>
          <p:cNvSpPr txBox="1"/>
          <p:nvPr/>
        </p:nvSpPr>
        <p:spPr>
          <a:xfrm>
            <a:off x="3291840" y="4617720"/>
            <a:ext cx="2286000" cy="518160"/>
          </a:xfrm>
          <a:prstGeom prst="rect">
            <a:avLst/>
          </a:prstGeom>
          <a:noFill/>
        </p:spPr>
        <p:txBody>
          <a:bodyPr wrap="square" lIns="0" rIns="0" tIns="0" bIns="0" anchor="t">
            <a:spAutoFit/>
          </a:bodyPr>
          <a:lstStyle/>
          <a:p>
            <a:pPr algn="l"/>
            <a:r>
              <a:rPr sz="3400" b="1" i="0">
                <a:solidFill>
                  <a:srgbClr val="E85D45"/>
                </a:solidFill>
                <a:latin typeface="Cambria"/>
              </a:rPr>
              <a:t>0.737</a:t>
            </a:r>
          </a:p>
        </p:txBody>
      </p:sp>
      <p:sp>
        <p:nvSpPr>
          <p:cNvPr id="10" name="TextBox 9"/>
          <p:cNvSpPr txBox="1"/>
          <p:nvPr/>
        </p:nvSpPr>
        <p:spPr>
          <a:xfrm>
            <a:off x="3291840" y="5181599"/>
            <a:ext cx="2286000" cy="731520"/>
          </a:xfrm>
          <a:prstGeom prst="rect">
            <a:avLst/>
          </a:prstGeom>
          <a:noFill/>
        </p:spPr>
        <p:txBody>
          <a:bodyPr wrap="square" lIns="0" rIns="0" tIns="0" bIns="0" anchor="t">
            <a:spAutoFit/>
          </a:bodyPr>
          <a:lstStyle/>
          <a:p>
            <a:pPr algn="l"/>
            <a:r>
              <a:rPr sz="1300" b="0" i="0">
                <a:solidFill>
                  <a:srgbClr val="4B5B5F"/>
                </a:solidFill>
                <a:latin typeface="Calibri"/>
              </a:rPr>
              <a:t>gradient boosting
(comparison)</a:t>
            </a:r>
          </a:p>
        </p:txBody>
      </p:sp>
      <p:sp>
        <p:nvSpPr>
          <p:cNvPr id="11" name="TextBox 10"/>
          <p:cNvSpPr txBox="1"/>
          <p:nvPr/>
        </p:nvSpPr>
        <p:spPr>
          <a:xfrm>
            <a:off x="6400800" y="1783080"/>
            <a:ext cx="5212080" cy="457200"/>
          </a:xfrm>
          <a:prstGeom prst="rect">
            <a:avLst/>
          </a:prstGeom>
          <a:noFill/>
        </p:spPr>
        <p:txBody>
          <a:bodyPr wrap="square" lIns="0" rIns="0" tIns="0" bIns="0" anchor="t">
            <a:spAutoFit/>
          </a:bodyPr>
          <a:lstStyle/>
          <a:p>
            <a:pPr algn="l"/>
            <a:r>
              <a:rPr sz="1900" b="1" i="0">
                <a:solidFill>
                  <a:srgbClr val="0B3C49"/>
                </a:solidFill>
                <a:latin typeface="Cambria"/>
              </a:rPr>
              <a:t>Success criteria, set before modelling</a:t>
            </a:r>
          </a:p>
        </p:txBody>
      </p:sp>
      <p:sp>
        <p:nvSpPr>
          <p:cNvPr id="12" name="Rounded Rectangle 11"/>
          <p:cNvSpPr/>
          <p:nvPr/>
        </p:nvSpPr>
        <p:spPr>
          <a:xfrm>
            <a:off x="6400800" y="2377440"/>
            <a:ext cx="1143000" cy="384048"/>
          </a:xfrm>
          <a:prstGeom prst="roundRect">
            <a:avLst>
              <a:gd name="adj" fmla="val 6000"/>
            </a:avLst>
          </a:prstGeom>
          <a:solidFill>
            <a:srgbClr val="E0A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377440"/>
            <a:ext cx="1143000" cy="384048"/>
          </a:xfrm>
          <a:prstGeom prst="rect">
            <a:avLst/>
          </a:prstGeom>
          <a:noFill/>
        </p:spPr>
        <p:txBody>
          <a:bodyPr wrap="square" lIns="0" rIns="0" tIns="0" bIns="0" anchor="ctr">
            <a:spAutoFit/>
          </a:bodyPr>
          <a:lstStyle/>
          <a:p>
            <a:pPr algn="ctr"/>
            <a:r>
              <a:rPr sz="1100" b="1" i="0">
                <a:solidFill>
                  <a:srgbClr val="FFFFFF"/>
                </a:solidFill>
                <a:latin typeface="Calibri"/>
              </a:rPr>
              <a:t>PARTLY</a:t>
            </a:r>
          </a:p>
        </p:txBody>
      </p:sp>
      <p:sp>
        <p:nvSpPr>
          <p:cNvPr id="14" name="TextBox 13"/>
          <p:cNvSpPr txBox="1"/>
          <p:nvPr/>
        </p:nvSpPr>
        <p:spPr>
          <a:xfrm>
            <a:off x="7726679" y="2359152"/>
            <a:ext cx="3931920" cy="868680"/>
          </a:xfrm>
          <a:prstGeom prst="rect">
            <a:avLst/>
          </a:prstGeom>
          <a:noFill/>
        </p:spPr>
        <p:txBody>
          <a:bodyPr wrap="square" lIns="0" rIns="0" tIns="0" bIns="0" anchor="t">
            <a:spAutoFit/>
          </a:bodyPr>
          <a:lstStyle/>
          <a:p>
            <a:pPr algn="l"/>
            <a:r>
              <a:rPr sz="1400" b="0" i="0">
                <a:solidFill>
                  <a:srgbClr val="1C2A2E"/>
                </a:solidFill>
                <a:latin typeface="Calibri"/>
              </a:rPr>
              <a:t>Beat both baselines: yes vs majority and lead-time rule; no model reliably beat logistic regression</a:t>
            </a:r>
          </a:p>
        </p:txBody>
      </p:sp>
      <p:sp>
        <p:nvSpPr>
          <p:cNvPr id="15" name="Rounded Rectangle 14"/>
          <p:cNvSpPr/>
          <p:nvPr/>
        </p:nvSpPr>
        <p:spPr>
          <a:xfrm>
            <a:off x="6400800" y="3310128"/>
            <a:ext cx="1143000" cy="384048"/>
          </a:xfrm>
          <a:prstGeom prst="roundRect">
            <a:avLst>
              <a:gd name="adj" fmla="val 6000"/>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310128"/>
            <a:ext cx="1143000" cy="384048"/>
          </a:xfrm>
          <a:prstGeom prst="rect">
            <a:avLst/>
          </a:prstGeom>
          <a:noFill/>
        </p:spPr>
        <p:txBody>
          <a:bodyPr wrap="square" lIns="0" rIns="0" tIns="0" bIns="0" anchor="ctr">
            <a:spAutoFit/>
          </a:bodyPr>
          <a:lstStyle/>
          <a:p>
            <a:pPr algn="ctr"/>
            <a:r>
              <a:rPr sz="1100" b="1" i="0">
                <a:solidFill>
                  <a:srgbClr val="FFFFFF"/>
                </a:solidFill>
                <a:latin typeface="Calibri"/>
              </a:rPr>
              <a:t>NOT MET</a:t>
            </a:r>
          </a:p>
        </p:txBody>
      </p:sp>
      <p:sp>
        <p:nvSpPr>
          <p:cNvPr id="17" name="TextBox 16"/>
          <p:cNvSpPr txBox="1"/>
          <p:nvPr/>
        </p:nvSpPr>
        <p:spPr>
          <a:xfrm>
            <a:off x="7726679" y="3291840"/>
            <a:ext cx="3931920" cy="868680"/>
          </a:xfrm>
          <a:prstGeom prst="rect">
            <a:avLst/>
          </a:prstGeom>
          <a:noFill/>
        </p:spPr>
        <p:txBody>
          <a:bodyPr wrap="square" lIns="0" rIns="0" tIns="0" bIns="0" anchor="t">
            <a:spAutoFit/>
          </a:bodyPr>
          <a:lstStyle/>
          <a:p>
            <a:pPr algn="l"/>
            <a:r>
              <a:rPr sz="1400" b="0" i="0">
                <a:solidFill>
                  <a:srgbClr val="1C2A2E"/>
                </a:solidFill>
                <a:latin typeface="Calibri"/>
              </a:rPr>
              <a:t>Beat logistic regression's top-20% recall: same reason</a:t>
            </a:r>
          </a:p>
        </p:txBody>
      </p:sp>
      <p:sp>
        <p:nvSpPr>
          <p:cNvPr id="18" name="Rounded Rectangle 17"/>
          <p:cNvSpPr/>
          <p:nvPr/>
        </p:nvSpPr>
        <p:spPr>
          <a:xfrm>
            <a:off x="6400800" y="4242816"/>
            <a:ext cx="1143000" cy="384048"/>
          </a:xfrm>
          <a:prstGeom prst="roundRect">
            <a:avLst>
              <a:gd name="adj" fmla="val 6000"/>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242816"/>
            <a:ext cx="1143000" cy="384048"/>
          </a:xfrm>
          <a:prstGeom prst="rect">
            <a:avLst/>
          </a:prstGeom>
          <a:noFill/>
        </p:spPr>
        <p:txBody>
          <a:bodyPr wrap="square" lIns="0" rIns="0" tIns="0" bIns="0" anchor="ctr">
            <a:spAutoFit/>
          </a:bodyPr>
          <a:lstStyle/>
          <a:p>
            <a:pPr algn="ctr"/>
            <a:r>
              <a:rPr sz="1100" b="1" i="0">
                <a:solidFill>
                  <a:srgbClr val="FFFFFF"/>
                </a:solidFill>
                <a:latin typeface="Calibri"/>
              </a:rPr>
              <a:t>MET</a:t>
            </a:r>
          </a:p>
        </p:txBody>
      </p:sp>
      <p:sp>
        <p:nvSpPr>
          <p:cNvPr id="20" name="TextBox 19"/>
          <p:cNvSpPr txBox="1"/>
          <p:nvPr/>
        </p:nvSpPr>
        <p:spPr>
          <a:xfrm>
            <a:off x="7726679" y="4224528"/>
            <a:ext cx="3931920" cy="868680"/>
          </a:xfrm>
          <a:prstGeom prst="rect">
            <a:avLst/>
          </a:prstGeom>
          <a:noFill/>
        </p:spPr>
        <p:txBody>
          <a:bodyPr wrap="square" lIns="0" rIns="0" tIns="0" bIns="0" anchor="t">
            <a:spAutoFit/>
          </a:bodyPr>
          <a:lstStyle/>
          <a:p>
            <a:pPr algn="l"/>
            <a:r>
              <a:rPr sz="1400" b="0" i="0">
                <a:solidFill>
                  <a:srgbClr val="1C2A2E"/>
                </a:solidFill>
                <a:latin typeface="Calibri"/>
              </a:rPr>
              <a:t>No leakage, verified by automated tests</a:t>
            </a:r>
          </a:p>
        </p:txBody>
      </p:sp>
      <p:sp>
        <p:nvSpPr>
          <p:cNvPr id="21" name="Rounded Rectangle 20"/>
          <p:cNvSpPr/>
          <p:nvPr/>
        </p:nvSpPr>
        <p:spPr>
          <a:xfrm>
            <a:off x="6400800" y="5175504"/>
            <a:ext cx="1143000" cy="384048"/>
          </a:xfrm>
          <a:prstGeom prst="roundRect">
            <a:avLst>
              <a:gd name="adj" fmla="val 6000"/>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5175504"/>
            <a:ext cx="1143000" cy="384048"/>
          </a:xfrm>
          <a:prstGeom prst="rect">
            <a:avLst/>
          </a:prstGeom>
          <a:noFill/>
        </p:spPr>
        <p:txBody>
          <a:bodyPr wrap="square" lIns="0" rIns="0" tIns="0" bIns="0" anchor="ctr">
            <a:spAutoFit/>
          </a:bodyPr>
          <a:lstStyle/>
          <a:p>
            <a:pPr algn="ctr"/>
            <a:r>
              <a:rPr sz="1100" b="1" i="0">
                <a:solidFill>
                  <a:srgbClr val="FFFFFF"/>
                </a:solidFill>
                <a:latin typeface="Calibri"/>
              </a:rPr>
              <a:t>MET</a:t>
            </a:r>
          </a:p>
        </p:txBody>
      </p:sp>
      <p:sp>
        <p:nvSpPr>
          <p:cNvPr id="23" name="TextBox 22"/>
          <p:cNvSpPr txBox="1"/>
          <p:nvPr/>
        </p:nvSpPr>
        <p:spPr>
          <a:xfrm>
            <a:off x="7726679" y="5157216"/>
            <a:ext cx="3931920" cy="868680"/>
          </a:xfrm>
          <a:prstGeom prst="rect">
            <a:avLst/>
          </a:prstGeom>
          <a:noFill/>
        </p:spPr>
        <p:txBody>
          <a:bodyPr wrap="square" lIns="0" rIns="0" tIns="0" bIns="0" anchor="t">
            <a:spAutoFit/>
          </a:bodyPr>
          <a:lstStyle/>
          <a:p>
            <a:pPr algn="l"/>
            <a:r>
              <a:rPr sz="1400" b="0" i="0">
                <a:solidFill>
                  <a:srgbClr val="1C2A2E"/>
                </a:solidFill>
                <a:latin typeface="Calibri"/>
              </a:rPr>
              <a:t>Colab demo runs end to end from the repository</a:t>
            </a:r>
          </a:p>
        </p:txBody>
      </p:sp>
      <p:sp>
        <p:nvSpPr>
          <p:cNvPr id="24" name="TextBox 23"/>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11</a:t>
            </a:r>
          </a:p>
        </p:txBody>
      </p:sp>
      <p:sp>
        <p:nvSpPr>
          <p:cNvPr id="25" name="TextBox 24"/>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Where the model fails, and for whom</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Error analysis and fairness on the test week (High band = flagged)</a:t>
            </a:r>
          </a:p>
        </p:txBody>
      </p:sp>
      <p:graphicFrame>
        <p:nvGraphicFramePr>
          <p:cNvPr id="4" name="Chart 3"/>
          <p:cNvGraphicFramePr>
            <a:graphicFrameLocks noGrp="1"/>
          </p:cNvGraphicFramePr>
          <p:nvPr/>
        </p:nvGraphicFramePr>
        <p:xfrm>
          <a:off x="548640" y="1600200"/>
          <a:ext cx="6949440" cy="4526280"/>
        </p:xfrm>
        <a:graphic>
          <a:graphicData uri="http://schemas.openxmlformats.org/drawingml/2006/chart">
            <c:chart xmlns:c="http://schemas.openxmlformats.org/drawingml/2006/chart" r:id="rId2"/>
          </a:graphicData>
        </a:graphic>
      </p:graphicFrame>
      <p:sp>
        <p:nvSpPr>
          <p:cNvPr id="5" name="Oval 4"/>
          <p:cNvSpPr/>
          <p:nvPr/>
        </p:nvSpPr>
        <p:spPr>
          <a:xfrm>
            <a:off x="7863840" y="1737360"/>
            <a:ext cx="256032" cy="256032"/>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6" name="TextBox 5"/>
          <p:cNvSpPr txBox="1"/>
          <p:nvPr/>
        </p:nvSpPr>
        <p:spPr>
          <a:xfrm>
            <a:off x="8275319" y="1691640"/>
            <a:ext cx="3383280" cy="1051560"/>
          </a:xfrm>
          <a:prstGeom prst="rect">
            <a:avLst/>
          </a:prstGeom>
          <a:noFill/>
        </p:spPr>
        <p:txBody>
          <a:bodyPr wrap="square" lIns="0" rIns="0" tIns="0" bIns="0" anchor="t">
            <a:spAutoFit/>
          </a:bodyPr>
          <a:lstStyle/>
          <a:p>
            <a:pPr algn="l">
              <a:spcAft>
                <a:spcPts val="200"/>
              </a:spcAft>
            </a:pPr>
            <a:r>
              <a:rPr sz="1500" b="1" i="0">
                <a:solidFill>
                  <a:srgbClr val="1C2A2E"/>
                </a:solidFill>
                <a:latin typeface="Calibri"/>
              </a:rPr>
              <a:t>Gender: fair</a:t>
            </a:r>
          </a:p>
          <a:p>
            <a:pPr algn="l">
              <a:spcAft>
                <a:spcPts val="200"/>
              </a:spcAft>
            </a:pPr>
            <a:r>
              <a:rPr sz="1300" b="0" i="0">
                <a:solidFill>
                  <a:srgbClr val="4B5B5F"/>
                </a:solidFill>
                <a:latin typeface="Calibri"/>
              </a:rPr>
              <a:t>similar catch and false-alarm rates</a:t>
            </a:r>
          </a:p>
        </p:txBody>
      </p:sp>
      <p:sp>
        <p:nvSpPr>
          <p:cNvPr id="7" name="Oval 6"/>
          <p:cNvSpPr/>
          <p:nvPr/>
        </p:nvSpPr>
        <p:spPr>
          <a:xfrm>
            <a:off x="7863840" y="2852928"/>
            <a:ext cx="256032" cy="256032"/>
          </a:xfrm>
          <a:prstGeom prst="ellipse">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8" name="TextBox 7"/>
          <p:cNvSpPr txBox="1"/>
          <p:nvPr/>
        </p:nvSpPr>
        <p:spPr>
          <a:xfrm>
            <a:off x="8275319" y="2807208"/>
            <a:ext cx="3383280" cy="1051560"/>
          </a:xfrm>
          <a:prstGeom prst="rect">
            <a:avLst/>
          </a:prstGeom>
          <a:noFill/>
        </p:spPr>
        <p:txBody>
          <a:bodyPr wrap="square" lIns="0" rIns="0" tIns="0" bIns="0" anchor="t">
            <a:spAutoFit/>
          </a:bodyPr>
          <a:lstStyle/>
          <a:p>
            <a:pPr algn="l">
              <a:spcAft>
                <a:spcPts val="200"/>
              </a:spcAft>
            </a:pPr>
            <a:r>
              <a:rPr sz="1500" b="1" i="0">
                <a:solidFill>
                  <a:srgbClr val="1C2A2E"/>
                </a:solidFill>
                <a:latin typeface="Calibri"/>
              </a:rPr>
              <a:t>Welfare: flagged 2× as often</a:t>
            </a:r>
          </a:p>
          <a:p>
            <a:pPr algn="l">
              <a:spcAft>
                <a:spcPts val="200"/>
              </a:spcAft>
            </a:pPr>
            <a:r>
              <a:rPr sz="1300" b="0" i="0">
                <a:solidFill>
                  <a:srgbClr val="4B5B5F"/>
                </a:solidFill>
                <a:latin typeface="Calibri"/>
              </a:rPr>
              <a:t>twice the false alarms; their no-show rate fell in the test week</a:t>
            </a:r>
          </a:p>
        </p:txBody>
      </p:sp>
      <p:sp>
        <p:nvSpPr>
          <p:cNvPr id="9" name="Oval 8"/>
          <p:cNvSpPr/>
          <p:nvPr/>
        </p:nvSpPr>
        <p:spPr>
          <a:xfrm>
            <a:off x="7863840" y="3968496"/>
            <a:ext cx="256032" cy="256032"/>
          </a:xfrm>
          <a:prstGeom prst="ellipse">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0" name="TextBox 9"/>
          <p:cNvSpPr txBox="1"/>
          <p:nvPr/>
        </p:nvSpPr>
        <p:spPr>
          <a:xfrm>
            <a:off x="8275319" y="3922776"/>
            <a:ext cx="3383280" cy="1051560"/>
          </a:xfrm>
          <a:prstGeom prst="rect">
            <a:avLst/>
          </a:prstGeom>
          <a:noFill/>
        </p:spPr>
        <p:txBody>
          <a:bodyPr wrap="square" lIns="0" rIns="0" tIns="0" bIns="0" anchor="t">
            <a:spAutoFit/>
          </a:bodyPr>
          <a:lstStyle/>
          <a:p>
            <a:pPr algn="l">
              <a:spcAft>
                <a:spcPts val="200"/>
              </a:spcAft>
            </a:pPr>
            <a:r>
              <a:rPr sz="1500" b="1" i="0">
                <a:solidFill>
                  <a:srgbClr val="1C2A2E"/>
                </a:solidFill>
                <a:latin typeface="Calibri"/>
              </a:rPr>
              <a:t>Age: children over-flagged, elderly missed</a:t>
            </a:r>
          </a:p>
          <a:p>
            <a:pPr algn="l">
              <a:spcAft>
                <a:spcPts val="200"/>
              </a:spcAft>
            </a:pPr>
            <a:r>
              <a:rPr sz="1300" b="0" i="0">
                <a:solidFill>
                  <a:srgbClr val="4B5B5F"/>
                </a:solidFill>
                <a:latin typeface="Calibri"/>
              </a:rPr>
              <a:t>only 7% of 66+ no-shows caught; the model treats age as a straight line</a:t>
            </a:r>
          </a:p>
        </p:txBody>
      </p:sp>
      <p:sp>
        <p:nvSpPr>
          <p:cNvPr id="11" name="Oval 10"/>
          <p:cNvSpPr/>
          <p:nvPr/>
        </p:nvSpPr>
        <p:spPr>
          <a:xfrm>
            <a:off x="7863840" y="5084064"/>
            <a:ext cx="256032" cy="25603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2" name="TextBox 11"/>
          <p:cNvSpPr txBox="1"/>
          <p:nvPr/>
        </p:nvSpPr>
        <p:spPr>
          <a:xfrm>
            <a:off x="8275319" y="5038344"/>
            <a:ext cx="3383280" cy="1051560"/>
          </a:xfrm>
          <a:prstGeom prst="rect">
            <a:avLst/>
          </a:prstGeom>
          <a:noFill/>
        </p:spPr>
        <p:txBody>
          <a:bodyPr wrap="square" lIns="0" rIns="0" tIns="0" bIns="0" anchor="t">
            <a:spAutoFit/>
          </a:bodyPr>
          <a:lstStyle/>
          <a:p>
            <a:pPr algn="l">
              <a:spcAft>
                <a:spcPts val="200"/>
              </a:spcAft>
            </a:pPr>
            <a:r>
              <a:rPr sz="1500" b="1" i="0">
                <a:solidFill>
                  <a:srgbClr val="1C2A2E"/>
                </a:solidFill>
                <a:latin typeface="Calibri"/>
              </a:rPr>
              <a:t>Hard limit</a:t>
            </a:r>
          </a:p>
          <a:p>
            <a:pPr algn="l">
              <a:spcAft>
                <a:spcPts val="200"/>
              </a:spcAft>
            </a:pPr>
            <a:r>
              <a:rPr sz="1300" b="0" i="0">
                <a:solidFill>
                  <a:srgbClr val="4B5B5F"/>
                </a:solidFill>
                <a:latin typeface="Calibri"/>
              </a:rPr>
              <a:t>caught no-shows and false alarms look identical in the data</a:t>
            </a:r>
          </a:p>
        </p:txBody>
      </p:sp>
      <p:sp>
        <p:nvSpPr>
          <p:cNvPr id="13" name="TextBox 1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12</a:t>
            </a:r>
          </a:p>
        </p:txBody>
      </p:sp>
      <p:sp>
        <p:nvSpPr>
          <p:cNvPr id="14" name="TextBox 13"/>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3C49"/>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FFFFFF"/>
                </a:solidFill>
                <a:latin typeface="Cambria"/>
              </a:rPr>
              <a:t>Live demo: Google Colab</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BFDDE0"/>
                </a:solidFill>
                <a:latin typeface="Calibri"/>
              </a:rPr>
              <a:t>notebooks/02_demo.ipynb · Runtime → Run all · no setup</a:t>
            </a:r>
          </a:p>
        </p:txBody>
      </p:sp>
      <p:sp>
        <p:nvSpPr>
          <p:cNvPr id="4" name="Oval 3"/>
          <p:cNvSpPr/>
          <p:nvPr/>
        </p:nvSpPr>
        <p:spPr>
          <a:xfrm>
            <a:off x="640080" y="1783080"/>
            <a:ext cx="457200" cy="457200"/>
          </a:xfrm>
          <a:prstGeom prst="ellipse">
            <a:avLst/>
          </a:prstGeom>
          <a:solidFill>
            <a:srgbClr val="E85D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 name="TextBox 4"/>
          <p:cNvSpPr txBox="1"/>
          <p:nvPr/>
        </p:nvSpPr>
        <p:spPr>
          <a:xfrm>
            <a:off x="1280160" y="1856231"/>
            <a:ext cx="5120640" cy="548640"/>
          </a:xfrm>
          <a:prstGeom prst="rect">
            <a:avLst/>
          </a:prstGeom>
          <a:noFill/>
        </p:spPr>
        <p:txBody>
          <a:bodyPr wrap="square" lIns="0" rIns="0" tIns="0" bIns="0" anchor="t">
            <a:spAutoFit/>
          </a:bodyPr>
          <a:lstStyle/>
          <a:p>
            <a:pPr algn="l"/>
            <a:r>
              <a:rPr sz="1600" b="0" i="0">
                <a:solidFill>
                  <a:srgbClr val="FFFFFF"/>
                </a:solidFill>
                <a:latin typeface="Calibri"/>
              </a:rPr>
              <a:t>Score one appointment from a form: probability, band, main factors</a:t>
            </a:r>
          </a:p>
        </p:txBody>
      </p:sp>
      <p:sp>
        <p:nvSpPr>
          <p:cNvPr id="6" name="Oval 5"/>
          <p:cNvSpPr/>
          <p:nvPr/>
        </p:nvSpPr>
        <p:spPr>
          <a:xfrm>
            <a:off x="640080" y="2496312"/>
            <a:ext cx="457200" cy="457200"/>
          </a:xfrm>
          <a:prstGeom prst="ellipse">
            <a:avLst/>
          </a:prstGeom>
          <a:solidFill>
            <a:srgbClr val="2A6F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7" name="TextBox 6"/>
          <p:cNvSpPr txBox="1"/>
          <p:nvPr/>
        </p:nvSpPr>
        <p:spPr>
          <a:xfrm>
            <a:off x="1280160" y="2569464"/>
            <a:ext cx="5120640" cy="548640"/>
          </a:xfrm>
          <a:prstGeom prst="rect">
            <a:avLst/>
          </a:prstGeom>
          <a:noFill/>
        </p:spPr>
        <p:txBody>
          <a:bodyPr wrap="square" lIns="0" rIns="0" tIns="0" bIns="0" anchor="t">
            <a:spAutoFit/>
          </a:bodyPr>
          <a:lstStyle/>
          <a:p>
            <a:pPr algn="l"/>
            <a:r>
              <a:rPr sz="1600" b="0" i="0">
                <a:solidFill>
                  <a:srgbClr val="FFFFFF"/>
                </a:solidFill>
                <a:latin typeface="Calibri"/>
              </a:rPr>
              <a:t>Rank a day's appointments, as staff would see them</a:t>
            </a:r>
          </a:p>
        </p:txBody>
      </p:sp>
      <p:sp>
        <p:nvSpPr>
          <p:cNvPr id="8" name="Oval 7"/>
          <p:cNvSpPr/>
          <p:nvPr/>
        </p:nvSpPr>
        <p:spPr>
          <a:xfrm>
            <a:off x="640080" y="3209544"/>
            <a:ext cx="457200" cy="457200"/>
          </a:xfrm>
          <a:prstGeom prst="ellipse">
            <a:avLst/>
          </a:prstGeom>
          <a:solidFill>
            <a:srgbClr val="2A6F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9" name="TextBox 8"/>
          <p:cNvSpPr txBox="1"/>
          <p:nvPr/>
        </p:nvSpPr>
        <p:spPr>
          <a:xfrm>
            <a:off x="1280160" y="3282696"/>
            <a:ext cx="5120640" cy="548640"/>
          </a:xfrm>
          <a:prstGeom prst="rect">
            <a:avLst/>
          </a:prstGeom>
          <a:noFill/>
        </p:spPr>
        <p:txBody>
          <a:bodyPr wrap="square" lIns="0" rIns="0" tIns="0" bIns="0" anchor="t">
            <a:spAutoFit/>
          </a:bodyPr>
          <a:lstStyle/>
          <a:p>
            <a:pPr algn="l"/>
            <a:r>
              <a:rPr sz="1600" b="0" i="0">
                <a:solidFill>
                  <a:srgbClr val="FFFFFF"/>
                </a:solidFill>
                <a:latin typeface="Calibri"/>
              </a:rPr>
              <a:t>Reject invalid input with every problem listed</a:t>
            </a:r>
          </a:p>
        </p:txBody>
      </p:sp>
      <p:sp>
        <p:nvSpPr>
          <p:cNvPr id="10" name="Oval 9"/>
          <p:cNvSpPr/>
          <p:nvPr/>
        </p:nvSpPr>
        <p:spPr>
          <a:xfrm>
            <a:off x="640080" y="3922776"/>
            <a:ext cx="457200" cy="457200"/>
          </a:xfrm>
          <a:prstGeom prst="ellipse">
            <a:avLst/>
          </a:prstGeom>
          <a:solidFill>
            <a:srgbClr val="2A6F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1" name="TextBox 10"/>
          <p:cNvSpPr txBox="1"/>
          <p:nvPr/>
        </p:nvSpPr>
        <p:spPr>
          <a:xfrm>
            <a:off x="1280160" y="3995928"/>
            <a:ext cx="5120640" cy="548640"/>
          </a:xfrm>
          <a:prstGeom prst="rect">
            <a:avLst/>
          </a:prstGeom>
          <a:noFill/>
        </p:spPr>
        <p:txBody>
          <a:bodyPr wrap="square" lIns="0" rIns="0" tIns="0" bIns="0" anchor="t">
            <a:spAutoFit/>
          </a:bodyPr>
          <a:lstStyle/>
          <a:p>
            <a:pPr algn="l"/>
            <a:r>
              <a:rPr sz="1600" b="0" i="0">
                <a:solidFill>
                  <a:srgbClr val="FFFFFF"/>
                </a:solidFill>
                <a:latin typeface="Calibri"/>
              </a:rPr>
              <a:t>Look up a patient's history without leakage</a:t>
            </a:r>
          </a:p>
        </p:txBody>
      </p:sp>
      <p:sp>
        <p:nvSpPr>
          <p:cNvPr id="12" name="Oval 11"/>
          <p:cNvSpPr/>
          <p:nvPr/>
        </p:nvSpPr>
        <p:spPr>
          <a:xfrm>
            <a:off x="640080" y="4636008"/>
            <a:ext cx="457200" cy="457200"/>
          </a:xfrm>
          <a:prstGeom prst="ellipse">
            <a:avLst/>
          </a:prstGeom>
          <a:solidFill>
            <a:srgbClr val="2A6F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3" name="TextBox 12"/>
          <p:cNvSpPr txBox="1"/>
          <p:nvPr/>
        </p:nvSpPr>
        <p:spPr>
          <a:xfrm>
            <a:off x="1280160" y="4709160"/>
            <a:ext cx="5120640" cy="548640"/>
          </a:xfrm>
          <a:prstGeom prst="rect">
            <a:avLst/>
          </a:prstGeom>
          <a:noFill/>
        </p:spPr>
        <p:txBody>
          <a:bodyPr wrap="square" lIns="0" rIns="0" tIns="0" bIns="0" anchor="t">
            <a:spAutoFit/>
          </a:bodyPr>
          <a:lstStyle/>
          <a:p>
            <a:pPr algn="l"/>
            <a:r>
              <a:rPr sz="1600" b="0" i="0">
                <a:solidFill>
                  <a:srgbClr val="FFFFFF"/>
                </a:solidFill>
                <a:latin typeface="Calibri"/>
              </a:rPr>
              <a:t>Retrain from the raw CSV: identical to the saved model</a:t>
            </a:r>
          </a:p>
        </p:txBody>
      </p:sp>
      <p:sp>
        <p:nvSpPr>
          <p:cNvPr id="14" name="Oval 13"/>
          <p:cNvSpPr/>
          <p:nvPr/>
        </p:nvSpPr>
        <p:spPr>
          <a:xfrm>
            <a:off x="640080" y="5349240"/>
            <a:ext cx="457200" cy="457200"/>
          </a:xfrm>
          <a:prstGeom prst="ellipse">
            <a:avLst/>
          </a:prstGeom>
          <a:solidFill>
            <a:srgbClr val="2A6F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6</a:t>
            </a:r>
          </a:p>
        </p:txBody>
      </p:sp>
      <p:sp>
        <p:nvSpPr>
          <p:cNvPr id="15" name="TextBox 14"/>
          <p:cNvSpPr txBox="1"/>
          <p:nvPr/>
        </p:nvSpPr>
        <p:spPr>
          <a:xfrm>
            <a:off x="1280160" y="5422392"/>
            <a:ext cx="5120640" cy="548640"/>
          </a:xfrm>
          <a:prstGeom prst="rect">
            <a:avLst/>
          </a:prstGeom>
          <a:noFill/>
        </p:spPr>
        <p:txBody>
          <a:bodyPr wrap="square" lIns="0" rIns="0" tIns="0" bIns="0" anchor="t">
            <a:spAutoFit/>
          </a:bodyPr>
          <a:lstStyle/>
          <a:p>
            <a:pPr algn="l"/>
            <a:r>
              <a:rPr sz="1600" b="0" i="0">
                <a:solidFill>
                  <a:srgbClr val="FFFFFF"/>
                </a:solidFill>
                <a:latin typeface="Calibri"/>
              </a:rPr>
              <a:t>Re-score the test set: matches the report</a:t>
            </a:r>
          </a:p>
        </p:txBody>
      </p:sp>
      <p:sp>
        <p:nvSpPr>
          <p:cNvPr id="16" name="Rounded Rectangle 15"/>
          <p:cNvSpPr/>
          <p:nvPr/>
        </p:nvSpPr>
        <p:spPr>
          <a:xfrm>
            <a:off x="6766560" y="1783080"/>
            <a:ext cx="4846320" cy="3749039"/>
          </a:xfrm>
          <a:prstGeom prst="roundRect">
            <a:avLst>
              <a:gd name="adj" fmla="val 6000"/>
            </a:avLst>
          </a:prstGeom>
          <a:solidFill>
            <a:srgbClr val="145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1965960"/>
            <a:ext cx="4389120" cy="365760"/>
          </a:xfrm>
          <a:prstGeom prst="rect">
            <a:avLst/>
          </a:prstGeom>
          <a:noFill/>
        </p:spPr>
        <p:txBody>
          <a:bodyPr wrap="square" lIns="0" rIns="0" tIns="0" bIns="0" anchor="t">
            <a:spAutoFit/>
          </a:bodyPr>
          <a:lstStyle/>
          <a:p>
            <a:pPr algn="l"/>
            <a:r>
              <a:rPr sz="1500" b="1" i="0">
                <a:solidFill>
                  <a:srgbClr val="BFDDE0"/>
                </a:solidFill>
                <a:latin typeface="Calibri"/>
              </a:rPr>
              <a:t>Example output</a:t>
            </a:r>
          </a:p>
        </p:txBody>
      </p:sp>
      <p:sp>
        <p:nvSpPr>
          <p:cNvPr id="18" name="TextBox 17"/>
          <p:cNvSpPr txBox="1"/>
          <p:nvPr/>
        </p:nvSpPr>
        <p:spPr>
          <a:xfrm>
            <a:off x="7040880" y="2423160"/>
            <a:ext cx="4389120" cy="3474720"/>
          </a:xfrm>
          <a:prstGeom prst="rect">
            <a:avLst/>
          </a:prstGeom>
          <a:noFill/>
        </p:spPr>
        <p:txBody>
          <a:bodyPr wrap="square" lIns="0" rIns="0" tIns="0" bIns="0" anchor="t">
            <a:spAutoFit/>
          </a:bodyPr>
          <a:lstStyle/>
          <a:p>
            <a:pPr algn="l"/>
            <a:r>
              <a:rPr sz="1200" b="0" i="0">
                <a:solidFill>
                  <a:srgbClr val="FFFFFF"/>
                </a:solidFill>
                <a:latin typeface="Courier New"/>
              </a:rPr>
              <a:t>{</a:t>
            </a:r>
          </a:p>
          <a:p>
            <a:pPr algn="l"/>
            <a:r>
              <a:rPr sz="1200" b="0" i="0">
                <a:solidFill>
                  <a:srgbClr val="FFFFFF"/>
                </a:solidFill>
                <a:latin typeface="Courier New"/>
              </a:rPr>
              <a:t>  "no_show_probability": 0.3509,</a:t>
            </a:r>
          </a:p>
          <a:p>
            <a:pPr algn="l"/>
            <a:r>
              <a:rPr sz="1200" b="0" i="0">
                <a:solidFill>
                  <a:srgbClr val="FFFFFF"/>
                </a:solidFill>
                <a:latin typeface="Courier New"/>
              </a:rPr>
              <a:t>  "risk_band": "High",</a:t>
            </a:r>
          </a:p>
          <a:p>
            <a:pPr algn="l"/>
            <a:r>
              <a:rPr sz="1200" b="0" i="0">
                <a:solidFill>
                  <a:srgbClr val="FFFFFF"/>
                </a:solidFill>
                <a:latin typeface="Courier New"/>
              </a:rPr>
              <a:t>  "main_factors": [</a:t>
            </a:r>
          </a:p>
          <a:p>
            <a:pPr algn="l"/>
            <a:r>
              <a:rPr sz="1200" b="0" i="0">
                <a:solidFill>
                  <a:srgbClr val="FFFFFF"/>
                </a:solidFill>
                <a:latin typeface="Courier New"/>
              </a:rPr>
              <a:t>    "not booked for the same day raises risk",</a:t>
            </a:r>
          </a:p>
          <a:p>
            <a:pPr algn="l"/>
            <a:r>
              <a:rPr sz="1200" b="0" i="0">
                <a:solidFill>
                  <a:srgbClr val="FFFFFF"/>
                </a:solidFill>
                <a:latin typeface="Courier New"/>
              </a:rPr>
              <a:t>    "welfare (Scholarship) raises risk",</a:t>
            </a:r>
          </a:p>
          <a:p>
            <a:pPr algn="l"/>
            <a:r>
              <a:rPr sz="1200" b="0" i="0">
                <a:solidFill>
                  <a:srgbClr val="FFFFFF"/>
                </a:solidFill>
                <a:latin typeface="Courier New"/>
              </a:rPr>
              <a:t>    "age 19 raises risk"</a:t>
            </a:r>
          </a:p>
          <a:p>
            <a:pPr algn="l"/>
            <a:r>
              <a:rPr sz="1200" b="0" i="0">
                <a:solidFill>
                  <a:srgbClr val="FFFFFF"/>
                </a:solidFill>
                <a:latin typeface="Courier New"/>
              </a:rPr>
              <a:t>  ],</a:t>
            </a:r>
          </a:p>
          <a:p>
            <a:pPr algn="l"/>
            <a:r>
              <a:rPr sz="1200" b="0" i="0">
                <a:solidFill>
                  <a:srgbClr val="FFFFFF"/>
                </a:solidFill>
                <a:latin typeface="Courier New"/>
              </a:rPr>
              <a:t>  "warnings": []</a:t>
            </a:r>
          </a:p>
          <a:p>
            <a:pPr algn="l"/>
            <a:r>
              <a:rPr sz="1200" b="0" i="0">
                <a:solidFill>
                  <a:srgbClr val="FFFFFF"/>
                </a:solidFill>
                <a:latin typeface="Courier New"/>
              </a:rPr>
              <a:t>}</a:t>
            </a:r>
          </a:p>
        </p:txBody>
      </p:sp>
      <p:sp>
        <p:nvSpPr>
          <p:cNvPr id="19" name="TextBox 18"/>
          <p:cNvSpPr txBox="1"/>
          <p:nvPr/>
        </p:nvSpPr>
        <p:spPr>
          <a:xfrm>
            <a:off x="640080" y="6172200"/>
            <a:ext cx="10058400" cy="365760"/>
          </a:xfrm>
          <a:prstGeom prst="rect">
            <a:avLst/>
          </a:prstGeom>
          <a:noFill/>
        </p:spPr>
        <p:txBody>
          <a:bodyPr wrap="square" lIns="0" rIns="0" tIns="0" bIns="0" anchor="t">
            <a:spAutoFit/>
          </a:bodyPr>
          <a:lstStyle/>
          <a:p>
            <a:pPr algn="l"/>
            <a:r>
              <a:rPr sz="1200" b="0" i="1">
                <a:solidFill>
                  <a:srgbClr val="BFDDE0"/>
                </a:solidFill>
                <a:latin typeface="Calibri"/>
              </a:rPr>
              <a:t>Backup if the connection fails: python -m src.predict examples/appointment.json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Responsible use</a:t>
            </a:r>
          </a:p>
        </p:txBody>
      </p:sp>
      <p:sp>
        <p:nvSpPr>
          <p:cNvPr id="3" name="TextBox 2"/>
          <p:cNvSpPr txBox="1"/>
          <p:nvPr/>
        </p:nvSpPr>
        <p:spPr>
          <a:xfrm>
            <a:off x="548640" y="1097280"/>
            <a:ext cx="11094415" cy="411480"/>
          </a:xfrm>
          <a:prstGeom prst="rect">
            <a:avLst/>
          </a:prstGeom>
          <a:noFill/>
        </p:spPr>
        <p:txBody>
          <a:bodyPr wrap="square" lIns="0" rIns="0" tIns="0" bIns="0" anchor="t">
            <a:spAutoFit/>
          </a:bodyPr>
          <a:lstStyle/>
          <a:p>
            <a:pPr algn="l"/>
            <a:r>
              <a:rPr sz="1600" b="0" i="1">
                <a:solidFill>
                  <a:srgbClr val="4B5B5F"/>
                </a:solidFill>
                <a:latin typeface="Calibri"/>
              </a:rPr>
              <a:t>Full model card: docs/responsible_ai.md</a:t>
            </a:r>
          </a:p>
        </p:txBody>
      </p:sp>
      <p:sp>
        <p:nvSpPr>
          <p:cNvPr id="4" name="Rounded Rectangle 3"/>
          <p:cNvSpPr/>
          <p:nvPr/>
        </p:nvSpPr>
        <p:spPr>
          <a:xfrm>
            <a:off x="548640" y="1691640"/>
            <a:ext cx="5486400" cy="306324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4937760" cy="457200"/>
          </a:xfrm>
          <a:prstGeom prst="rect">
            <a:avLst/>
          </a:prstGeom>
          <a:noFill/>
        </p:spPr>
        <p:txBody>
          <a:bodyPr wrap="square" lIns="0" rIns="0" tIns="0" bIns="0" anchor="t">
            <a:spAutoFit/>
          </a:bodyPr>
          <a:lstStyle/>
          <a:p>
            <a:pPr algn="l"/>
            <a:r>
              <a:rPr sz="2000" b="1" i="0">
                <a:solidFill>
                  <a:srgbClr val="13747D"/>
                </a:solidFill>
                <a:latin typeface="Cambria"/>
              </a:rPr>
              <a:t>Intended use</a:t>
            </a:r>
          </a:p>
        </p:txBody>
      </p:sp>
      <p:sp>
        <p:nvSpPr>
          <p:cNvPr id="6" name="TextBox 5"/>
          <p:cNvSpPr txBox="1"/>
          <p:nvPr/>
        </p:nvSpPr>
        <p:spPr>
          <a:xfrm>
            <a:off x="822960" y="2423160"/>
            <a:ext cx="4937760" cy="3566160"/>
          </a:xfrm>
          <a:prstGeom prst="rect">
            <a:avLst/>
          </a:prstGeom>
          <a:noFill/>
        </p:spPr>
        <p:txBody>
          <a:bodyPr wrap="square" lIns="0" rIns="0" tIns="0" bIns="0">
            <a:spAutoFit/>
          </a:bodyPr>
          <a:lstStyle/>
          <a:p>
            <a:pPr marL="256032" indent="-256032">
              <a:spcAft>
                <a:spcPts val="800"/>
              </a:spcAft>
              <a:buFont typeface="Arial"/>
              <a:buChar char="•"/>
            </a:pPr>
            <a:r>
              <a:rPr sz="1500" b="0">
                <a:solidFill>
                  <a:srgbClr val="1C2A2E"/>
                </a:solidFill>
                <a:latin typeface="Calibri"/>
              </a:rPr>
              <a:t>Staff get a ranked list and choose whom to remind or call</a:t>
            </a:r>
          </a:p>
          <a:p>
            <a:pPr marL="256032" indent="-256032">
              <a:spcAft>
                <a:spcPts val="800"/>
              </a:spcAft>
              <a:buFont typeface="Arial"/>
              <a:buChar char="•"/>
            </a:pPr>
            <a:r>
              <a:rPr sz="1500" b="0">
                <a:solidFill>
                  <a:srgbClr val="1C2A2E"/>
                </a:solidFill>
                <a:latin typeface="Calibri"/>
              </a:rPr>
              <a:t>Supportive help only: reminders, confirmation calls, rescheduling offers</a:t>
            </a:r>
          </a:p>
          <a:p>
            <a:pPr marL="256032" indent="-256032">
              <a:spcAft>
                <a:spcPts val="800"/>
              </a:spcAft>
              <a:buFont typeface="Arial"/>
              <a:buChar char="•"/>
            </a:pPr>
            <a:r>
              <a:rPr sz="1500" b="0">
                <a:solidFill>
                  <a:srgbClr val="1C2A2E"/>
                </a:solidFill>
                <a:latin typeface="Calibri"/>
              </a:rPr>
              <a:t>A person always decides; the model never acts</a:t>
            </a:r>
          </a:p>
          <a:p>
            <a:pPr marL="256032" indent="-256032">
              <a:spcAft>
                <a:spcPts val="800"/>
              </a:spcAft>
              <a:buFont typeface="Arial"/>
              <a:buChar char="•"/>
            </a:pPr>
            <a:r>
              <a:rPr sz="1500" b="0">
                <a:solidFill>
                  <a:srgbClr val="1C2A2E"/>
                </a:solidFill>
                <a:latin typeface="Calibri"/>
              </a:rPr>
              <a:t>Warnings on inputs outside the training range</a:t>
            </a:r>
          </a:p>
        </p:txBody>
      </p:sp>
      <p:sp>
        <p:nvSpPr>
          <p:cNvPr id="7" name="Rounded Rectangle 6"/>
          <p:cNvSpPr/>
          <p:nvPr/>
        </p:nvSpPr>
        <p:spPr>
          <a:xfrm>
            <a:off x="6172200" y="1691640"/>
            <a:ext cx="5440680" cy="3063240"/>
          </a:xfrm>
          <a:prstGeom prst="roundRect">
            <a:avLst>
              <a:gd name="adj" fmla="val 6000"/>
            </a:avLst>
          </a:prstGeom>
          <a:solidFill>
            <a:srgbClr val="FC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74519"/>
            <a:ext cx="4937760" cy="457200"/>
          </a:xfrm>
          <a:prstGeom prst="rect">
            <a:avLst/>
          </a:prstGeom>
          <a:noFill/>
        </p:spPr>
        <p:txBody>
          <a:bodyPr wrap="square" lIns="0" rIns="0" tIns="0" bIns="0" anchor="t">
            <a:spAutoFit/>
          </a:bodyPr>
          <a:lstStyle/>
          <a:p>
            <a:pPr algn="l"/>
            <a:r>
              <a:rPr sz="2000" b="1" i="0">
                <a:solidFill>
                  <a:srgbClr val="E85D45"/>
                </a:solidFill>
                <a:latin typeface="Cambria"/>
              </a:rPr>
              <a:t>Never use it to</a:t>
            </a:r>
          </a:p>
        </p:txBody>
      </p:sp>
      <p:sp>
        <p:nvSpPr>
          <p:cNvPr id="9" name="TextBox 8"/>
          <p:cNvSpPr txBox="1"/>
          <p:nvPr/>
        </p:nvSpPr>
        <p:spPr>
          <a:xfrm>
            <a:off x="6446520" y="2423160"/>
            <a:ext cx="4937760" cy="3566160"/>
          </a:xfrm>
          <a:prstGeom prst="rect">
            <a:avLst/>
          </a:prstGeom>
          <a:noFill/>
        </p:spPr>
        <p:txBody>
          <a:bodyPr wrap="square" lIns="0" rIns="0" tIns="0" bIns="0">
            <a:spAutoFit/>
          </a:bodyPr>
          <a:lstStyle/>
          <a:p>
            <a:pPr marL="256032" indent="-256032">
              <a:spcAft>
                <a:spcPts val="800"/>
              </a:spcAft>
              <a:buFont typeface="Arial"/>
              <a:buChar char="•"/>
            </a:pPr>
            <a:r>
              <a:rPr sz="1500" b="0">
                <a:solidFill>
                  <a:srgbClr val="1C2A2E"/>
                </a:solidFill>
                <a:latin typeface="Calibri"/>
              </a:rPr>
              <a:t>Cancel, delay, or refuse care: 2 in 3 flagged patients would have come</a:t>
            </a:r>
          </a:p>
          <a:p>
            <a:pPr marL="256032" indent="-256032">
              <a:spcAft>
                <a:spcPts val="800"/>
              </a:spcAft>
              <a:buFont typeface="Arial"/>
              <a:buChar char="•"/>
            </a:pPr>
            <a:r>
              <a:rPr sz="1500" b="0">
                <a:solidFill>
                  <a:srgbClr val="1C2A2E"/>
                </a:solidFill>
                <a:latin typeface="Calibri"/>
              </a:rPr>
              <a:t>Overbook flagged patients' slots</a:t>
            </a:r>
          </a:p>
          <a:p>
            <a:pPr marL="256032" indent="-256032">
              <a:spcAft>
                <a:spcPts val="800"/>
              </a:spcAft>
              <a:buFont typeface="Arial"/>
              <a:buChar char="•"/>
            </a:pPr>
            <a:r>
              <a:rPr sz="1500" b="0">
                <a:solidFill>
                  <a:srgbClr val="1C2A2E"/>
                </a:solidFill>
                <a:latin typeface="Calibri"/>
              </a:rPr>
              <a:t>Penalise patients or make insurance / eligibility decisions</a:t>
            </a:r>
          </a:p>
          <a:p>
            <a:pPr marL="256032" indent="-256032">
              <a:spcAft>
                <a:spcPts val="800"/>
              </a:spcAft>
              <a:buFont typeface="Arial"/>
              <a:buChar char="•"/>
            </a:pPr>
            <a:r>
              <a:rPr sz="1500" b="0">
                <a:solidFill>
                  <a:srgbClr val="1C2A2E"/>
                </a:solidFill>
                <a:latin typeface="Calibri"/>
              </a:rPr>
              <a:t>Treat the probability as an exact chance</a:t>
            </a:r>
          </a:p>
        </p:txBody>
      </p:sp>
      <p:sp>
        <p:nvSpPr>
          <p:cNvPr id="10" name="Rounded Rectangle 9"/>
          <p:cNvSpPr/>
          <p:nvPr/>
        </p:nvSpPr>
        <p:spPr>
          <a:xfrm>
            <a:off x="548640" y="4983480"/>
            <a:ext cx="11064240" cy="1188720"/>
          </a:xfrm>
          <a:prstGeom prst="roundRect">
            <a:avLst>
              <a:gd name="adj" fmla="val 6000"/>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5303520"/>
            <a:ext cx="502920" cy="502920"/>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i</a:t>
            </a:r>
          </a:p>
        </p:txBody>
      </p:sp>
      <p:sp>
        <p:nvSpPr>
          <p:cNvPr id="12" name="TextBox 11"/>
          <p:cNvSpPr txBox="1"/>
          <p:nvPr/>
        </p:nvSpPr>
        <p:spPr>
          <a:xfrm>
            <a:off x="1554480" y="5166360"/>
            <a:ext cx="9875520" cy="914400"/>
          </a:xfrm>
          <a:prstGeom prst="rect">
            <a:avLst/>
          </a:prstGeom>
          <a:noFill/>
        </p:spPr>
        <p:txBody>
          <a:bodyPr wrap="square" lIns="0" rIns="0" tIns="0" bIns="0" anchor="t">
            <a:spAutoFit/>
          </a:bodyPr>
          <a:lstStyle/>
          <a:p>
            <a:pPr algn="l"/>
            <a:r>
              <a:rPr sz="1400" b="1" i="0">
                <a:solidFill>
                  <a:srgbClr val="1C2A2E"/>
                </a:solidFill>
                <a:latin typeface="Calibri"/>
              </a:rPr>
              <a:t>Fairness and privacy. </a:t>
            </a:r>
            <a:r>
              <a:rPr sz="1400" b="0" i="0">
                <a:solidFill>
                  <a:srgbClr val="1C2A2E"/>
                </a:solidFill>
                <a:latin typeface="Calibri"/>
              </a:rPr>
              <a:t>The model uses welfare status, health conditions, and age, which raise the scores of poorer and sicker patients: fine for extra help, never for restrictions. The data is public and de-identified, the saved model holds no patient records, and real use falls under health-data law (e.g. Brazil's LGPD).</a:t>
            </a:r>
          </a:p>
        </p:txBody>
      </p:sp>
      <p:sp>
        <p:nvSpPr>
          <p:cNvPr id="13" name="TextBox 1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14</a:t>
            </a:r>
          </a:p>
        </p:txBody>
      </p:sp>
      <p:sp>
        <p:nvSpPr>
          <p:cNvPr id="14" name="TextBox 13"/>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731520"/>
          </a:xfrm>
          <a:prstGeom prst="rect">
            <a:avLst/>
          </a:prstGeom>
          <a:noFill/>
        </p:spPr>
        <p:txBody>
          <a:bodyPr wrap="square" lIns="0" rIns="0" tIns="0" bIns="0" anchor="t">
            <a:spAutoFit/>
          </a:bodyPr>
          <a:lstStyle/>
          <a:p>
            <a:pPr algn="l"/>
            <a:r>
              <a:rPr sz="3400" b="1" i="0">
                <a:solidFill>
                  <a:srgbClr val="0B3C49"/>
                </a:solidFill>
                <a:latin typeface="Cambria"/>
              </a:rPr>
              <a:t>Limitations and next steps</a:t>
            </a:r>
          </a:p>
        </p:txBody>
      </p:sp>
      <p:sp>
        <p:nvSpPr>
          <p:cNvPr id="3" name="TextBox 2"/>
          <p:cNvSpPr txBox="1"/>
          <p:nvPr/>
        </p:nvSpPr>
        <p:spPr>
          <a:xfrm>
            <a:off x="548640" y="1417320"/>
            <a:ext cx="5486400" cy="411480"/>
          </a:xfrm>
          <a:prstGeom prst="rect">
            <a:avLst/>
          </a:prstGeom>
          <a:noFill/>
        </p:spPr>
        <p:txBody>
          <a:bodyPr wrap="square" lIns="0" rIns="0" tIns="0" bIns="0" anchor="t">
            <a:spAutoFit/>
          </a:bodyPr>
          <a:lstStyle/>
          <a:p>
            <a:pPr algn="l"/>
            <a:r>
              <a:rPr sz="2000" b="1" i="0">
                <a:solidFill>
                  <a:srgbClr val="0B3C49"/>
                </a:solidFill>
                <a:latin typeface="Cambria"/>
              </a:rPr>
              <a:t>Limitations</a:t>
            </a:r>
          </a:p>
        </p:txBody>
      </p:sp>
      <p:sp>
        <p:nvSpPr>
          <p:cNvPr id="4" name="TextBox 3"/>
          <p:cNvSpPr txBox="1"/>
          <p:nvPr/>
        </p:nvSpPr>
        <p:spPr>
          <a:xfrm>
            <a:off x="548640" y="1920240"/>
            <a:ext cx="5394960" cy="4206240"/>
          </a:xfrm>
          <a:prstGeom prst="rect">
            <a:avLst/>
          </a:prstGeom>
          <a:noFill/>
        </p:spPr>
        <p:txBody>
          <a:bodyPr wrap="square" lIns="0" rIns="0" tIns="0" bIns="0">
            <a:spAutoFit/>
          </a:bodyPr>
          <a:lstStyle/>
          <a:p>
            <a:pPr marL="256032" indent="-256032">
              <a:spcAft>
                <a:spcPts val="1000"/>
              </a:spcAft>
              <a:buFont typeface="Arial"/>
              <a:buChar char="•"/>
            </a:pPr>
            <a:r>
              <a:rPr sz="1500" b="0">
                <a:solidFill>
                  <a:srgbClr val="1C2A2E"/>
                </a:solidFill>
                <a:latin typeface="Calibri"/>
              </a:rPr>
              <a:t>Moderate accuracy: ROC-AUC 0.72; mostly driven by lead time</a:t>
            </a:r>
          </a:p>
          <a:p>
            <a:pPr marL="256032" indent="-256032">
              <a:spcAft>
                <a:spcPts val="1000"/>
              </a:spcAft>
              <a:buFont typeface="Arial"/>
              <a:buChar char="•"/>
            </a:pPr>
            <a:r>
              <a:rPr sz="1500" b="0">
                <a:solidFill>
                  <a:srgbClr val="1C2A2E"/>
                </a:solidFill>
                <a:latin typeface="Calibri"/>
              </a:rPr>
              <a:t>6 weeks of 2016 data from one city's public clinics</a:t>
            </a:r>
          </a:p>
          <a:p>
            <a:pPr marL="256032" indent="-256032">
              <a:spcAft>
                <a:spcPts val="1000"/>
              </a:spcAft>
              <a:buFont typeface="Arial"/>
              <a:buChar char="•"/>
            </a:pPr>
            <a:r>
              <a:rPr sz="1500" b="0">
                <a:solidFill>
                  <a:srgbClr val="1C2A2E"/>
                </a:solidFill>
                <a:latin typeface="Calibri"/>
              </a:rPr>
              <a:t>No appointment type, time of day, distance, or seasonality</a:t>
            </a:r>
          </a:p>
          <a:p>
            <a:pPr marL="256032" indent="-256032">
              <a:spcAft>
                <a:spcPts val="1000"/>
              </a:spcAft>
              <a:buFont typeface="Arial"/>
              <a:buChar char="•"/>
            </a:pPr>
            <a:r>
              <a:rPr sz="1500" b="0">
                <a:solidFill>
                  <a:srgbClr val="1C2A2E"/>
                </a:solidFill>
                <a:latin typeface="Calibri"/>
              </a:rPr>
              <a:t>Linear age effect; probabilities about 2.7 points too high on the test week</a:t>
            </a:r>
          </a:p>
          <a:p>
            <a:pPr marL="256032" indent="-256032">
              <a:spcAft>
                <a:spcPts val="1000"/>
              </a:spcAft>
              <a:buFont typeface="Arial"/>
              <a:buChar char="•"/>
            </a:pPr>
            <a:r>
              <a:rPr sz="1500" b="0">
                <a:solidFill>
                  <a:srgbClr val="1C2A2E"/>
                </a:solidFill>
                <a:latin typeface="Calibri"/>
              </a:rPr>
              <a:t>Predicts risk, not whether a reminder would help</a:t>
            </a:r>
          </a:p>
        </p:txBody>
      </p:sp>
      <p:sp>
        <p:nvSpPr>
          <p:cNvPr id="5" name="TextBox 4"/>
          <p:cNvSpPr txBox="1"/>
          <p:nvPr/>
        </p:nvSpPr>
        <p:spPr>
          <a:xfrm>
            <a:off x="6400800" y="1417320"/>
            <a:ext cx="5486400" cy="411480"/>
          </a:xfrm>
          <a:prstGeom prst="rect">
            <a:avLst/>
          </a:prstGeom>
          <a:noFill/>
        </p:spPr>
        <p:txBody>
          <a:bodyPr wrap="square" lIns="0" rIns="0" tIns="0" bIns="0" anchor="t">
            <a:spAutoFit/>
          </a:bodyPr>
          <a:lstStyle/>
          <a:p>
            <a:pPr algn="l"/>
            <a:r>
              <a:rPr sz="2000" b="1" i="0">
                <a:solidFill>
                  <a:srgbClr val="0B3C49"/>
                </a:solidFill>
                <a:latin typeface="Cambria"/>
              </a:rPr>
              <a:t>Next steps</a:t>
            </a:r>
          </a:p>
        </p:txBody>
      </p:sp>
      <p:sp>
        <p:nvSpPr>
          <p:cNvPr id="6" name="Oval 5"/>
          <p:cNvSpPr/>
          <p:nvPr/>
        </p:nvSpPr>
        <p:spPr>
          <a:xfrm>
            <a:off x="6400800" y="1920240"/>
            <a:ext cx="438912" cy="438912"/>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7040880" y="1901952"/>
            <a:ext cx="4572000" cy="914400"/>
          </a:xfrm>
          <a:prstGeom prst="rect">
            <a:avLst/>
          </a:prstGeom>
          <a:noFill/>
        </p:spPr>
        <p:txBody>
          <a:bodyPr wrap="square" lIns="0" rIns="0" tIns="0" bIns="0" anchor="t">
            <a:spAutoFit/>
          </a:bodyPr>
          <a:lstStyle/>
          <a:p>
            <a:pPr algn="l">
              <a:spcAft>
                <a:spcPts val="200"/>
              </a:spcAft>
            </a:pPr>
            <a:r>
              <a:rPr sz="1600" b="1" i="0">
                <a:solidFill>
                  <a:srgbClr val="1C2A2E"/>
                </a:solidFill>
                <a:latin typeface="Calibri"/>
              </a:rPr>
              <a:t>Gradient boosting</a:t>
            </a:r>
          </a:p>
          <a:p>
            <a:pPr algn="l">
              <a:spcAft>
                <a:spcPts val="200"/>
              </a:spcAft>
            </a:pPr>
            <a:r>
              <a:rPr sz="1400" b="0" i="0">
                <a:solidFill>
                  <a:srgbClr val="4B5B5F"/>
                </a:solidFill>
                <a:latin typeface="Calibri"/>
              </a:rPr>
              <a:t>better on test; confirm on new data</a:t>
            </a:r>
          </a:p>
        </p:txBody>
      </p:sp>
      <p:sp>
        <p:nvSpPr>
          <p:cNvPr id="8" name="Oval 7"/>
          <p:cNvSpPr/>
          <p:nvPr/>
        </p:nvSpPr>
        <p:spPr>
          <a:xfrm>
            <a:off x="6400800" y="2944368"/>
            <a:ext cx="438912" cy="438912"/>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7040880" y="2926080"/>
            <a:ext cx="4572000" cy="914400"/>
          </a:xfrm>
          <a:prstGeom prst="rect">
            <a:avLst/>
          </a:prstGeom>
          <a:noFill/>
        </p:spPr>
        <p:txBody>
          <a:bodyPr wrap="square" lIns="0" rIns="0" tIns="0" bIns="0" anchor="t">
            <a:spAutoFit/>
          </a:bodyPr>
          <a:lstStyle/>
          <a:p>
            <a:pPr algn="l">
              <a:spcAft>
                <a:spcPts val="200"/>
              </a:spcAft>
            </a:pPr>
            <a:r>
              <a:rPr sz="1600" b="1" i="0">
                <a:solidFill>
                  <a:srgbClr val="1C2A2E"/>
                </a:solidFill>
                <a:latin typeface="Calibri"/>
              </a:rPr>
              <a:t>Recalibrate</a:t>
            </a:r>
          </a:p>
          <a:p>
            <a:pPr algn="l">
              <a:spcAft>
                <a:spcPts val="200"/>
              </a:spcAft>
            </a:pPr>
            <a:r>
              <a:rPr sz="1400" b="0" i="0">
                <a:solidFill>
                  <a:srgbClr val="4B5B5F"/>
                </a:solidFill>
                <a:latin typeface="Calibri"/>
              </a:rPr>
              <a:t>on recent data; recheck band cut-offs vs staff capacity</a:t>
            </a:r>
          </a:p>
        </p:txBody>
      </p:sp>
      <p:sp>
        <p:nvSpPr>
          <p:cNvPr id="10" name="Oval 9"/>
          <p:cNvSpPr/>
          <p:nvPr/>
        </p:nvSpPr>
        <p:spPr>
          <a:xfrm>
            <a:off x="6400800" y="3968496"/>
            <a:ext cx="438912" cy="438912"/>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7040880" y="3950208"/>
            <a:ext cx="4572000" cy="914400"/>
          </a:xfrm>
          <a:prstGeom prst="rect">
            <a:avLst/>
          </a:prstGeom>
          <a:noFill/>
        </p:spPr>
        <p:txBody>
          <a:bodyPr wrap="square" lIns="0" rIns="0" tIns="0" bIns="0" anchor="t">
            <a:spAutoFit/>
          </a:bodyPr>
          <a:lstStyle/>
          <a:p>
            <a:pPr algn="l">
              <a:spcAft>
                <a:spcPts val="200"/>
              </a:spcAft>
            </a:pPr>
            <a:r>
              <a:rPr sz="1600" b="1" i="0">
                <a:solidFill>
                  <a:srgbClr val="1C2A2E"/>
                </a:solidFill>
                <a:latin typeface="Calibri"/>
              </a:rPr>
              <a:t>Monitor fairness</a:t>
            </a:r>
          </a:p>
          <a:p>
            <a:pPr algn="l">
              <a:spcAft>
                <a:spcPts val="200"/>
              </a:spcAft>
            </a:pPr>
            <a:r>
              <a:rPr sz="1400" b="0" i="0">
                <a:solidFill>
                  <a:srgbClr val="4B5B5F"/>
                </a:solidFill>
                <a:latin typeface="Calibri"/>
              </a:rPr>
              <a:t>error rates by welfare and age, monthly</a:t>
            </a:r>
          </a:p>
        </p:txBody>
      </p:sp>
      <p:sp>
        <p:nvSpPr>
          <p:cNvPr id="12" name="Oval 11"/>
          <p:cNvSpPr/>
          <p:nvPr/>
        </p:nvSpPr>
        <p:spPr>
          <a:xfrm>
            <a:off x="6400800" y="4992624"/>
            <a:ext cx="438912" cy="438912"/>
          </a:xfrm>
          <a:prstGeom prst="ellipse">
            <a:avLst/>
          </a:prstGeom>
          <a:solidFill>
            <a:srgbClr val="13747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7040880" y="4974336"/>
            <a:ext cx="4572000" cy="914400"/>
          </a:xfrm>
          <a:prstGeom prst="rect">
            <a:avLst/>
          </a:prstGeom>
          <a:noFill/>
        </p:spPr>
        <p:txBody>
          <a:bodyPr wrap="square" lIns="0" rIns="0" tIns="0" bIns="0" anchor="t">
            <a:spAutoFit/>
          </a:bodyPr>
          <a:lstStyle/>
          <a:p>
            <a:pPr algn="l">
              <a:spcAft>
                <a:spcPts val="200"/>
              </a:spcAft>
            </a:pPr>
            <a:r>
              <a:rPr sz="1600" b="1" i="0">
                <a:solidFill>
                  <a:srgbClr val="1C2A2E"/>
                </a:solidFill>
                <a:latin typeface="Calibri"/>
              </a:rPr>
              <a:t>Richer data</a:t>
            </a:r>
          </a:p>
          <a:p>
            <a:pPr algn="l">
              <a:spcAft>
                <a:spcPts val="200"/>
              </a:spcAft>
            </a:pPr>
            <a:r>
              <a:rPr sz="1400" b="0" i="0">
                <a:solidFill>
                  <a:srgbClr val="4B5B5F"/>
                </a:solidFill>
                <a:latin typeface="Calibri"/>
              </a:rPr>
              <a:t>appointment type, reminders as a randomised trial</a:t>
            </a:r>
          </a:p>
        </p:txBody>
      </p:sp>
      <p:sp>
        <p:nvSpPr>
          <p:cNvPr id="14" name="TextBox 13"/>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9AA5A8"/>
                </a:solidFill>
                <a:latin typeface="Calibri"/>
              </a:rPr>
              <a:t>15</a:t>
            </a:r>
          </a:p>
        </p:txBody>
      </p:sp>
      <p:sp>
        <p:nvSpPr>
          <p:cNvPr id="15" name="TextBox 14"/>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9AA5A8"/>
                </a:solidFill>
                <a:latin typeface="Calibri"/>
              </a:rPr>
              <a:t>MED-01 · Appointment No-Show Prediction · Furkat Toshmatov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3C49"/>
        </a:solidFill>
        <a:effectLst/>
      </p:bgPr>
    </p:bg>
    <p:spTree>
      <p:nvGrpSpPr>
        <p:cNvPr id="1" name=""/>
        <p:cNvGrpSpPr/>
        <p:nvPr/>
      </p:nvGrpSpPr>
      <p:grpSpPr/>
      <p:sp>
        <p:nvSpPr>
          <p:cNvPr id="2" name="TextBox 1"/>
          <p:cNvSpPr txBox="1"/>
          <p:nvPr/>
        </p:nvSpPr>
        <p:spPr>
          <a:xfrm>
            <a:off x="731520" y="1188720"/>
            <a:ext cx="10058400" cy="914400"/>
          </a:xfrm>
          <a:prstGeom prst="rect">
            <a:avLst/>
          </a:prstGeom>
          <a:noFill/>
        </p:spPr>
        <p:txBody>
          <a:bodyPr wrap="square" lIns="0" rIns="0" tIns="0" bIns="0" anchor="t">
            <a:spAutoFit/>
          </a:bodyPr>
          <a:lstStyle/>
          <a:p>
            <a:pPr algn="l"/>
            <a:r>
              <a:rPr sz="5400" b="1" i="0">
                <a:solidFill>
                  <a:srgbClr val="FFFFFF"/>
                </a:solidFill>
                <a:latin typeface="Cambria"/>
              </a:rPr>
              <a:t>Thank you</a:t>
            </a:r>
          </a:p>
        </p:txBody>
      </p:sp>
      <p:sp>
        <p:nvSpPr>
          <p:cNvPr id="3" name="TextBox 2"/>
          <p:cNvSpPr txBox="1"/>
          <p:nvPr/>
        </p:nvSpPr>
        <p:spPr>
          <a:xfrm>
            <a:off x="731520" y="2148840"/>
            <a:ext cx="10058400" cy="548640"/>
          </a:xfrm>
          <a:prstGeom prst="rect">
            <a:avLst/>
          </a:prstGeom>
          <a:noFill/>
        </p:spPr>
        <p:txBody>
          <a:bodyPr wrap="square" lIns="0" rIns="0" tIns="0" bIns="0" anchor="t">
            <a:spAutoFit/>
          </a:bodyPr>
          <a:lstStyle/>
          <a:p>
            <a:pPr algn="l"/>
            <a:r>
              <a:rPr sz="2800" b="0" i="0">
                <a:solidFill>
                  <a:srgbClr val="BFDDE0"/>
                </a:solidFill>
                <a:latin typeface="Calibri"/>
              </a:rPr>
              <a:t>Questions?</a:t>
            </a:r>
          </a:p>
        </p:txBody>
      </p:sp>
      <p:sp>
        <p:nvSpPr>
          <p:cNvPr id="4" name="TextBox 3"/>
          <p:cNvSpPr txBox="1"/>
          <p:nvPr/>
        </p:nvSpPr>
        <p:spPr>
          <a:xfrm>
            <a:off x="731520" y="3383280"/>
            <a:ext cx="2560320" cy="731520"/>
          </a:xfrm>
          <a:prstGeom prst="rect">
            <a:avLst/>
          </a:prstGeom>
          <a:noFill/>
        </p:spPr>
        <p:txBody>
          <a:bodyPr wrap="square" lIns="0" rIns="0" tIns="0" bIns="0" anchor="t">
            <a:spAutoFit/>
          </a:bodyPr>
          <a:lstStyle/>
          <a:p>
            <a:pPr algn="l"/>
            <a:r>
              <a:rPr sz="3800" b="1" i="0">
                <a:solidFill>
                  <a:srgbClr val="FFFFFF"/>
                </a:solidFill>
                <a:latin typeface="Cambria"/>
              </a:rPr>
              <a:t>0.723</a:t>
            </a:r>
          </a:p>
        </p:txBody>
      </p:sp>
      <p:sp>
        <p:nvSpPr>
          <p:cNvPr id="5" name="TextBox 4"/>
          <p:cNvSpPr txBox="1"/>
          <p:nvPr/>
        </p:nvSpPr>
        <p:spPr>
          <a:xfrm>
            <a:off x="731520" y="4114800"/>
            <a:ext cx="2560320" cy="548640"/>
          </a:xfrm>
          <a:prstGeom prst="rect">
            <a:avLst/>
          </a:prstGeom>
          <a:noFill/>
        </p:spPr>
        <p:txBody>
          <a:bodyPr wrap="square" lIns="0" rIns="0" tIns="0" bIns="0" anchor="t">
            <a:spAutoFit/>
          </a:bodyPr>
          <a:lstStyle/>
          <a:p>
            <a:pPr algn="l"/>
            <a:r>
              <a:rPr sz="1400" b="0" i="0">
                <a:solidFill>
                  <a:srgbClr val="BFDDE0"/>
                </a:solidFill>
                <a:latin typeface="Calibri"/>
              </a:rPr>
              <a:t>test ROC-AUC</a:t>
            </a:r>
          </a:p>
        </p:txBody>
      </p:sp>
      <p:sp>
        <p:nvSpPr>
          <p:cNvPr id="6" name="TextBox 5"/>
          <p:cNvSpPr txBox="1"/>
          <p:nvPr/>
        </p:nvSpPr>
        <p:spPr>
          <a:xfrm>
            <a:off x="3566160" y="3383280"/>
            <a:ext cx="2560320" cy="731520"/>
          </a:xfrm>
          <a:prstGeom prst="rect">
            <a:avLst/>
          </a:prstGeom>
          <a:noFill/>
        </p:spPr>
        <p:txBody>
          <a:bodyPr wrap="square" lIns="0" rIns="0" tIns="0" bIns="0" anchor="t">
            <a:spAutoFit/>
          </a:bodyPr>
          <a:lstStyle/>
          <a:p>
            <a:pPr algn="l"/>
            <a:r>
              <a:rPr sz="3800" b="1" i="0">
                <a:solidFill>
                  <a:srgbClr val="E85D45"/>
                </a:solidFill>
                <a:latin typeface="Cambria"/>
              </a:rPr>
              <a:t>41%</a:t>
            </a:r>
          </a:p>
        </p:txBody>
      </p:sp>
      <p:sp>
        <p:nvSpPr>
          <p:cNvPr id="7" name="TextBox 6"/>
          <p:cNvSpPr txBox="1"/>
          <p:nvPr/>
        </p:nvSpPr>
        <p:spPr>
          <a:xfrm>
            <a:off x="3566160" y="4114800"/>
            <a:ext cx="2560320" cy="548640"/>
          </a:xfrm>
          <a:prstGeom prst="rect">
            <a:avLst/>
          </a:prstGeom>
          <a:noFill/>
        </p:spPr>
        <p:txBody>
          <a:bodyPr wrap="square" lIns="0" rIns="0" tIns="0" bIns="0" anchor="t">
            <a:spAutoFit/>
          </a:bodyPr>
          <a:lstStyle/>
          <a:p>
            <a:pPr algn="l"/>
            <a:r>
              <a:rPr sz="1400" b="0" i="0">
                <a:solidFill>
                  <a:srgbClr val="BFDDE0"/>
                </a:solidFill>
                <a:latin typeface="Calibri"/>
              </a:rPr>
              <a:t>of no-shows in the High band</a:t>
            </a:r>
          </a:p>
        </p:txBody>
      </p:sp>
      <p:sp>
        <p:nvSpPr>
          <p:cNvPr id="8" name="TextBox 7"/>
          <p:cNvSpPr txBox="1"/>
          <p:nvPr/>
        </p:nvSpPr>
        <p:spPr>
          <a:xfrm>
            <a:off x="6400800" y="3383280"/>
            <a:ext cx="2560320" cy="731520"/>
          </a:xfrm>
          <a:prstGeom prst="rect">
            <a:avLst/>
          </a:prstGeom>
          <a:noFill/>
        </p:spPr>
        <p:txBody>
          <a:bodyPr wrap="square" lIns="0" rIns="0" tIns="0" bIns="0" anchor="t">
            <a:spAutoFit/>
          </a:bodyPr>
          <a:lstStyle/>
          <a:p>
            <a:pPr algn="l"/>
            <a:r>
              <a:rPr sz="3800" b="1" i="0">
                <a:solidFill>
                  <a:srgbClr val="FFFFFF"/>
                </a:solidFill>
                <a:latin typeface="Cambria"/>
              </a:rPr>
              <a:t>55</a:t>
            </a:r>
          </a:p>
        </p:txBody>
      </p:sp>
      <p:sp>
        <p:nvSpPr>
          <p:cNvPr id="9" name="TextBox 8"/>
          <p:cNvSpPr txBox="1"/>
          <p:nvPr/>
        </p:nvSpPr>
        <p:spPr>
          <a:xfrm>
            <a:off x="6400800" y="4114800"/>
            <a:ext cx="2560320" cy="548640"/>
          </a:xfrm>
          <a:prstGeom prst="rect">
            <a:avLst/>
          </a:prstGeom>
          <a:noFill/>
        </p:spPr>
        <p:txBody>
          <a:bodyPr wrap="square" lIns="0" rIns="0" tIns="0" bIns="0" anchor="t">
            <a:spAutoFit/>
          </a:bodyPr>
          <a:lstStyle/>
          <a:p>
            <a:pPr algn="l"/>
            <a:r>
              <a:rPr sz="1400" b="0" i="0">
                <a:solidFill>
                  <a:srgbClr val="BFDDE0"/>
                </a:solidFill>
                <a:latin typeface="Calibri"/>
              </a:rPr>
              <a:t>automated tests</a:t>
            </a:r>
          </a:p>
        </p:txBody>
      </p:sp>
      <p:sp>
        <p:nvSpPr>
          <p:cNvPr id="10" name="TextBox 9"/>
          <p:cNvSpPr txBox="1"/>
          <p:nvPr/>
        </p:nvSpPr>
        <p:spPr>
          <a:xfrm>
            <a:off x="9235440" y="3383280"/>
            <a:ext cx="2560320" cy="731520"/>
          </a:xfrm>
          <a:prstGeom prst="rect">
            <a:avLst/>
          </a:prstGeom>
          <a:noFill/>
        </p:spPr>
        <p:txBody>
          <a:bodyPr wrap="square" lIns="0" rIns="0" tIns="0" bIns="0" anchor="t">
            <a:spAutoFit/>
          </a:bodyPr>
          <a:lstStyle/>
          <a:p>
            <a:pPr algn="l"/>
            <a:r>
              <a:rPr sz="3800" b="1" i="0">
                <a:solidFill>
                  <a:srgbClr val="FFFFFF"/>
                </a:solidFill>
                <a:latin typeface="Cambria"/>
              </a:rPr>
              <a:t>23</a:t>
            </a:r>
          </a:p>
        </p:txBody>
      </p:sp>
      <p:sp>
        <p:nvSpPr>
          <p:cNvPr id="11" name="TextBox 10"/>
          <p:cNvSpPr txBox="1"/>
          <p:nvPr/>
        </p:nvSpPr>
        <p:spPr>
          <a:xfrm>
            <a:off x="9235440" y="4114800"/>
            <a:ext cx="2560320" cy="548640"/>
          </a:xfrm>
          <a:prstGeom prst="rect">
            <a:avLst/>
          </a:prstGeom>
          <a:noFill/>
        </p:spPr>
        <p:txBody>
          <a:bodyPr wrap="square" lIns="0" rIns="0" tIns="0" bIns="0" anchor="t">
            <a:spAutoFit/>
          </a:bodyPr>
          <a:lstStyle/>
          <a:p>
            <a:pPr algn="l"/>
            <a:r>
              <a:rPr sz="1400" b="0" i="0">
                <a:solidFill>
                  <a:srgbClr val="BFDDE0"/>
                </a:solidFill>
                <a:latin typeface="Calibri"/>
              </a:rPr>
              <a:t>logged experiments, each with its code version</a:t>
            </a:r>
          </a:p>
        </p:txBody>
      </p:sp>
      <p:sp>
        <p:nvSpPr>
          <p:cNvPr id="12" name="TextBox 11"/>
          <p:cNvSpPr txBox="1"/>
          <p:nvPr/>
        </p:nvSpPr>
        <p:spPr>
          <a:xfrm>
            <a:off x="731520" y="5212080"/>
            <a:ext cx="10515600" cy="1097280"/>
          </a:xfrm>
          <a:prstGeom prst="rect">
            <a:avLst/>
          </a:prstGeom>
          <a:noFill/>
        </p:spPr>
        <p:txBody>
          <a:bodyPr wrap="square" lIns="0" rIns="0" tIns="0" bIns="0" anchor="t">
            <a:spAutoFit/>
          </a:bodyPr>
          <a:lstStyle/>
          <a:p>
            <a:pPr algn="l">
              <a:spcAft>
                <a:spcPts val="600"/>
              </a:spcAft>
            </a:pPr>
            <a:r>
              <a:rPr sz="1600" b="1" i="0">
                <a:solidFill>
                  <a:srgbClr val="FFFFFF"/>
                </a:solidFill>
                <a:latin typeface="Calibri"/>
              </a:rPr>
              <a:t>Repository  </a:t>
            </a:r>
            <a:r>
              <a:rPr sz="1600" b="0" i="0">
                <a:solidFill>
                  <a:srgbClr val="BFDDE0"/>
                </a:solidFill>
                <a:latin typeface="Calibri"/>
              </a:rPr>
              <a:t>github.com/monfurkat-glitch/HealthProject</a:t>
            </a:r>
          </a:p>
          <a:p>
            <a:pPr algn="l">
              <a:spcAft>
                <a:spcPts val="600"/>
              </a:spcAft>
            </a:pPr>
            <a:r>
              <a:rPr sz="1600" b="1" i="0">
                <a:solidFill>
                  <a:srgbClr val="FFFFFF"/>
                </a:solidFill>
                <a:latin typeface="Calibri"/>
              </a:rPr>
              <a:t>Demo  </a:t>
            </a:r>
            <a:r>
              <a:rPr sz="1600" b="0" i="0">
                <a:solidFill>
                  <a:srgbClr val="BFDDE0"/>
                </a:solidFill>
                <a:latin typeface="Calibri"/>
              </a:rPr>
              <a:t>notebooks/02_demo.ipynb (Open in Colab from the README)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